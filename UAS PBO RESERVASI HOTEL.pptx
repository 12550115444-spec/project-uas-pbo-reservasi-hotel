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9" r:id="rId4"/>
    <p:sldId id="283" r:id="rId5"/>
    <p:sldId id="285" r:id="rId6"/>
    <p:sldId id="260" r:id="rId7"/>
    <p:sldId id="286" r:id="rId8"/>
    <p:sldId id="287" r:id="rId9"/>
    <p:sldId id="288" r:id="rId10"/>
    <p:sldId id="289" r:id="rId11"/>
    <p:sldId id="280" r:id="rId12"/>
  </p:sldIdLst>
  <p:sldSz cx="18288000" cy="10287000"/>
  <p:notesSz cx="6858000" cy="9144000"/>
  <p:embeddedFontLst>
    <p:embeddedFont>
      <p:font typeface="Poppins" panose="00000500000000000000" pitchFamily="2" charset="0"/>
      <p:regular r:id="rId13"/>
      <p:bold r:id="rId14"/>
      <p:italic r:id="rId15"/>
      <p:boldItalic r:id="rId16"/>
    </p:embeddedFont>
    <p:embeddedFont>
      <p:font typeface="Poppins Bold" panose="00000800000000000000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66" d="100"/>
          <a:sy n="66" d="100"/>
        </p:scale>
        <p:origin x="370" y="-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53A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44754" y="620828"/>
            <a:ext cx="2595499" cy="3199383"/>
          </a:xfrm>
          <a:custGeom>
            <a:avLst/>
            <a:gdLst/>
            <a:ahLst/>
            <a:cxnLst/>
            <a:rect l="l" t="t" r="r" b="b"/>
            <a:pathLst>
              <a:path w="2595499" h="3199383">
                <a:moveTo>
                  <a:pt x="0" y="0"/>
                </a:moveTo>
                <a:lnTo>
                  <a:pt x="2595499" y="0"/>
                </a:lnTo>
                <a:lnTo>
                  <a:pt x="2595499" y="3199383"/>
                </a:lnTo>
                <a:lnTo>
                  <a:pt x="0" y="31993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5233472" y="620828"/>
            <a:ext cx="2595499" cy="3199383"/>
          </a:xfrm>
          <a:custGeom>
            <a:avLst/>
            <a:gdLst/>
            <a:ahLst/>
            <a:cxnLst/>
            <a:rect l="l" t="t" r="r" b="b"/>
            <a:pathLst>
              <a:path w="2595499" h="3199383">
                <a:moveTo>
                  <a:pt x="2595499" y="0"/>
                </a:moveTo>
                <a:lnTo>
                  <a:pt x="0" y="0"/>
                </a:lnTo>
                <a:lnTo>
                  <a:pt x="0" y="3199383"/>
                </a:lnTo>
                <a:lnTo>
                  <a:pt x="2595499" y="3199383"/>
                </a:lnTo>
                <a:lnTo>
                  <a:pt x="2595499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899823" y="-285278"/>
            <a:ext cx="14583773" cy="9880506"/>
          </a:xfrm>
          <a:custGeom>
            <a:avLst/>
            <a:gdLst/>
            <a:ahLst/>
            <a:cxnLst/>
            <a:rect l="l" t="t" r="r" b="b"/>
            <a:pathLst>
              <a:path w="14583773" h="9880506">
                <a:moveTo>
                  <a:pt x="0" y="0"/>
                </a:moveTo>
                <a:lnTo>
                  <a:pt x="14583773" y="0"/>
                </a:lnTo>
                <a:lnTo>
                  <a:pt x="14583773" y="9880507"/>
                </a:lnTo>
                <a:lnTo>
                  <a:pt x="0" y="98805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345387">
            <a:off x="740539" y="6699175"/>
            <a:ext cx="3572045" cy="2924612"/>
          </a:xfrm>
          <a:custGeom>
            <a:avLst/>
            <a:gdLst/>
            <a:ahLst/>
            <a:cxnLst/>
            <a:rect l="l" t="t" r="r" b="b"/>
            <a:pathLst>
              <a:path w="3572045" h="2924612">
                <a:moveTo>
                  <a:pt x="0" y="0"/>
                </a:moveTo>
                <a:lnTo>
                  <a:pt x="3572045" y="0"/>
                </a:lnTo>
                <a:lnTo>
                  <a:pt x="3572045" y="2924611"/>
                </a:lnTo>
                <a:lnTo>
                  <a:pt x="0" y="29246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5846462">
            <a:off x="1463485" y="4237282"/>
            <a:ext cx="1449949" cy="1812436"/>
          </a:xfrm>
          <a:custGeom>
            <a:avLst/>
            <a:gdLst/>
            <a:ahLst/>
            <a:cxnLst/>
            <a:rect l="l" t="t" r="r" b="b"/>
            <a:pathLst>
              <a:path w="1449949" h="1812436">
                <a:moveTo>
                  <a:pt x="0" y="0"/>
                </a:moveTo>
                <a:lnTo>
                  <a:pt x="1449949" y="0"/>
                </a:lnTo>
                <a:lnTo>
                  <a:pt x="1449949" y="1812436"/>
                </a:lnTo>
                <a:lnTo>
                  <a:pt x="0" y="18124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1177000">
            <a:off x="14674488" y="7021043"/>
            <a:ext cx="2400669" cy="2400669"/>
          </a:xfrm>
          <a:custGeom>
            <a:avLst/>
            <a:gdLst/>
            <a:ahLst/>
            <a:cxnLst/>
            <a:rect l="l" t="t" r="r" b="b"/>
            <a:pathLst>
              <a:path w="2400669" h="2400669">
                <a:moveTo>
                  <a:pt x="0" y="0"/>
                </a:moveTo>
                <a:lnTo>
                  <a:pt x="2400669" y="0"/>
                </a:lnTo>
                <a:lnTo>
                  <a:pt x="2400669" y="2400668"/>
                </a:lnTo>
                <a:lnTo>
                  <a:pt x="0" y="24006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 rot="1666773">
            <a:off x="15160905" y="5289670"/>
            <a:ext cx="2194402" cy="770784"/>
          </a:xfrm>
          <a:custGeom>
            <a:avLst/>
            <a:gdLst/>
            <a:ahLst/>
            <a:cxnLst/>
            <a:rect l="l" t="t" r="r" b="b"/>
            <a:pathLst>
              <a:path w="2194402" h="770784">
                <a:moveTo>
                  <a:pt x="0" y="0"/>
                </a:moveTo>
                <a:lnTo>
                  <a:pt x="2194403" y="0"/>
                </a:lnTo>
                <a:lnTo>
                  <a:pt x="2194403" y="770784"/>
                </a:lnTo>
                <a:lnTo>
                  <a:pt x="0" y="7707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8061984" y="8403282"/>
            <a:ext cx="2417012" cy="855018"/>
          </a:xfrm>
          <a:custGeom>
            <a:avLst/>
            <a:gdLst/>
            <a:ahLst/>
            <a:cxnLst/>
            <a:rect l="l" t="t" r="r" b="b"/>
            <a:pathLst>
              <a:path w="2417012" h="855018">
                <a:moveTo>
                  <a:pt x="0" y="0"/>
                </a:moveTo>
                <a:lnTo>
                  <a:pt x="2417012" y="0"/>
                </a:lnTo>
                <a:lnTo>
                  <a:pt x="2417012" y="855018"/>
                </a:lnTo>
                <a:lnTo>
                  <a:pt x="0" y="8550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295779" y="1028700"/>
            <a:ext cx="11697116" cy="5295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226"/>
              </a:lnSpc>
            </a:pPr>
            <a:r>
              <a:rPr lang="en-US" sz="10000" b="1" dirty="0">
                <a:solidFill>
                  <a:srgbClr val="3853A2"/>
                </a:solidFill>
                <a:latin typeface="Poppins Bold"/>
                <a:ea typeface="Poppins Bold"/>
                <a:cs typeface="Poppins Bold"/>
                <a:sym typeface="Poppins Bold"/>
              </a:rPr>
              <a:t>UAS </a:t>
            </a:r>
          </a:p>
          <a:p>
            <a:pPr algn="ctr">
              <a:lnSpc>
                <a:spcPts val="14226"/>
              </a:lnSpc>
            </a:pPr>
            <a:r>
              <a:rPr lang="en-US" sz="8000" b="1" dirty="0">
                <a:solidFill>
                  <a:srgbClr val="3853A2"/>
                </a:solidFill>
                <a:latin typeface="Poppins Bold"/>
                <a:ea typeface="Poppins Bold"/>
                <a:cs typeface="Poppins Bold"/>
                <a:sym typeface="Poppins Bold"/>
              </a:rPr>
              <a:t>PEMROGRAMAN BERORIENTASI OBJEK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53A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970748" y="-1424945"/>
            <a:ext cx="19689775" cy="4907291"/>
          </a:xfrm>
          <a:custGeom>
            <a:avLst/>
            <a:gdLst/>
            <a:ahLst/>
            <a:cxnLst/>
            <a:rect l="l" t="t" r="r" b="b"/>
            <a:pathLst>
              <a:path w="19689775" h="4907291">
                <a:moveTo>
                  <a:pt x="0" y="0"/>
                </a:moveTo>
                <a:lnTo>
                  <a:pt x="19689775" y="0"/>
                </a:lnTo>
                <a:lnTo>
                  <a:pt x="19689775" y="4907290"/>
                </a:lnTo>
                <a:lnTo>
                  <a:pt x="0" y="49072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120177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728223" y="823838"/>
            <a:ext cx="15531077" cy="1302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75"/>
              </a:lnSpc>
            </a:pPr>
            <a:r>
              <a:rPr lang="en-US" sz="8399" b="1">
                <a:solidFill>
                  <a:srgbClr val="3853A2"/>
                </a:solidFill>
                <a:latin typeface="Poppins Bold"/>
                <a:ea typeface="Poppins Bold"/>
                <a:cs typeface="Poppins Bold"/>
                <a:sym typeface="Poppins Bold"/>
              </a:rPr>
              <a:t>TUJUAN PEMBELAJARAN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884673" y="4515538"/>
            <a:ext cx="12518653" cy="5007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3500" spc="1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Mengetahui</a:t>
            </a:r>
            <a:r>
              <a:rPr lang="en-US" sz="3500" spc="1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500" spc="1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bagaimana</a:t>
            </a:r>
            <a:r>
              <a:rPr lang="en-US" sz="3500" spc="1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500" spc="1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cara</a:t>
            </a:r>
            <a:r>
              <a:rPr lang="en-US" sz="3500" spc="1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500" spc="1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sistem</a:t>
            </a:r>
            <a:r>
              <a:rPr lang="en-US" sz="3500" spc="1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hotel </a:t>
            </a:r>
            <a:r>
              <a:rPr lang="en-US" sz="3500" spc="1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bekerja</a:t>
            </a:r>
            <a:endParaRPr lang="en-US" sz="3500" spc="10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654675" y="5702667"/>
            <a:ext cx="12944237" cy="1090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05"/>
              </a:lnSpc>
            </a:pPr>
            <a:r>
              <a:rPr lang="en-US" sz="3500" spc="1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Bisa </a:t>
            </a:r>
            <a:r>
              <a:rPr lang="en-US" sz="3500" spc="1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memahami</a:t>
            </a:r>
            <a:r>
              <a:rPr lang="en-US" sz="3500" spc="1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dan </a:t>
            </a:r>
            <a:r>
              <a:rPr lang="en-US" sz="3500" spc="1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mengaplikasikanya</a:t>
            </a:r>
            <a:r>
              <a:rPr lang="en-US" sz="3500" spc="1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500" spc="1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ke</a:t>
            </a:r>
            <a:r>
              <a:rPr lang="en-US" sz="3500" spc="1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500" spc="1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projek</a:t>
            </a:r>
            <a:r>
              <a:rPr lang="en-US" sz="3500" spc="1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500" spc="1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serupa</a:t>
            </a:r>
            <a:endParaRPr lang="en-US" sz="3500" spc="10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2654674" y="7269821"/>
            <a:ext cx="12944237" cy="53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05"/>
              </a:lnSpc>
            </a:pPr>
            <a:r>
              <a:rPr lang="en-US" sz="3500" spc="1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Memahami</a:t>
            </a:r>
            <a:r>
              <a:rPr lang="en-US" sz="3500" spc="1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500" spc="1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fungsi</a:t>
            </a:r>
            <a:r>
              <a:rPr lang="en-US" sz="3500" spc="1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500" spc="1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sistem</a:t>
            </a:r>
            <a:r>
              <a:rPr lang="en-US" sz="3500" spc="1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500" spc="1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operasi</a:t>
            </a:r>
            <a:r>
              <a:rPr lang="en-US" sz="3500" spc="1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hotel</a:t>
            </a:r>
          </a:p>
        </p:txBody>
      </p:sp>
      <p:sp>
        <p:nvSpPr>
          <p:cNvPr id="8" name="Freeform 8"/>
          <p:cNvSpPr/>
          <p:nvPr/>
        </p:nvSpPr>
        <p:spPr>
          <a:xfrm rot="-6273417">
            <a:off x="-478264" y="7699166"/>
            <a:ext cx="1637987" cy="2047484"/>
          </a:xfrm>
          <a:custGeom>
            <a:avLst/>
            <a:gdLst/>
            <a:ahLst/>
            <a:cxnLst/>
            <a:rect l="l" t="t" r="r" b="b"/>
            <a:pathLst>
              <a:path w="1637987" h="2047484">
                <a:moveTo>
                  <a:pt x="0" y="0"/>
                </a:moveTo>
                <a:lnTo>
                  <a:pt x="1637987" y="0"/>
                </a:lnTo>
                <a:lnTo>
                  <a:pt x="1637987" y="2047483"/>
                </a:lnTo>
                <a:lnTo>
                  <a:pt x="0" y="20474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1666773">
            <a:off x="16706158" y="4946381"/>
            <a:ext cx="1979233" cy="695206"/>
          </a:xfrm>
          <a:custGeom>
            <a:avLst/>
            <a:gdLst/>
            <a:ahLst/>
            <a:cxnLst/>
            <a:rect l="l" t="t" r="r" b="b"/>
            <a:pathLst>
              <a:path w="1979233" h="695206">
                <a:moveTo>
                  <a:pt x="0" y="0"/>
                </a:moveTo>
                <a:lnTo>
                  <a:pt x="1979234" y="0"/>
                </a:lnTo>
                <a:lnTo>
                  <a:pt x="1979234" y="695206"/>
                </a:lnTo>
                <a:lnTo>
                  <a:pt x="0" y="6952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10987" y="-1227995"/>
            <a:ext cx="19689775" cy="3171095"/>
          </a:xfrm>
          <a:custGeom>
            <a:avLst/>
            <a:gdLst/>
            <a:ahLst/>
            <a:cxnLst/>
            <a:rect l="l" t="t" r="r" b="b"/>
            <a:pathLst>
              <a:path w="19689775" h="4907291">
                <a:moveTo>
                  <a:pt x="0" y="0"/>
                </a:moveTo>
                <a:lnTo>
                  <a:pt x="19689775" y="0"/>
                </a:lnTo>
                <a:lnTo>
                  <a:pt x="19689775" y="4907291"/>
                </a:lnTo>
                <a:lnTo>
                  <a:pt x="0" y="49072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120177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457200" y="-1227995"/>
            <a:ext cx="2928584" cy="2928584"/>
          </a:xfrm>
          <a:custGeom>
            <a:avLst/>
            <a:gdLst/>
            <a:ahLst/>
            <a:cxnLst/>
            <a:rect l="l" t="t" r="r" b="b"/>
            <a:pathLst>
              <a:path w="2928584" h="2928584">
                <a:moveTo>
                  <a:pt x="0" y="0"/>
                </a:moveTo>
                <a:lnTo>
                  <a:pt x="2928583" y="0"/>
                </a:lnTo>
                <a:lnTo>
                  <a:pt x="2928583" y="2928583"/>
                </a:lnTo>
                <a:lnTo>
                  <a:pt x="0" y="29285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flipH="1">
            <a:off x="15550204" y="-1227995"/>
            <a:ext cx="2928584" cy="2928584"/>
          </a:xfrm>
          <a:custGeom>
            <a:avLst/>
            <a:gdLst/>
            <a:ahLst/>
            <a:cxnLst/>
            <a:rect l="l" t="t" r="r" b="b"/>
            <a:pathLst>
              <a:path w="2928584" h="2928584">
                <a:moveTo>
                  <a:pt x="2928583" y="0"/>
                </a:moveTo>
                <a:lnTo>
                  <a:pt x="0" y="0"/>
                </a:lnTo>
                <a:lnTo>
                  <a:pt x="0" y="2928583"/>
                </a:lnTo>
                <a:lnTo>
                  <a:pt x="2928583" y="2928583"/>
                </a:lnTo>
                <a:lnTo>
                  <a:pt x="292858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422165" y="-126896"/>
            <a:ext cx="14423469" cy="1768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25"/>
              </a:lnSpc>
            </a:pPr>
            <a:r>
              <a:rPr lang="en-US" sz="58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UML CLASS DIAGRAM</a:t>
            </a:r>
          </a:p>
          <a:p>
            <a:pPr algn="ctr">
              <a:lnSpc>
                <a:spcPts val="6725"/>
              </a:lnSpc>
            </a:pPr>
            <a:r>
              <a:rPr lang="en-US" sz="58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-RESERVASI HOTEL-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E4F4E78-5627-CC47-0598-CDD751C265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1890" y="1664947"/>
            <a:ext cx="10172556" cy="84963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2F8239-DB6F-64C7-D60E-3F30632C5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986F430-AEC7-A43A-01C6-99E240CD8BEE}"/>
              </a:ext>
            </a:extLst>
          </p:cNvPr>
          <p:cNvSpPr/>
          <p:nvPr/>
        </p:nvSpPr>
        <p:spPr>
          <a:xfrm>
            <a:off x="-1210987" y="-1227995"/>
            <a:ext cx="19689775" cy="3171095"/>
          </a:xfrm>
          <a:custGeom>
            <a:avLst/>
            <a:gdLst/>
            <a:ahLst/>
            <a:cxnLst/>
            <a:rect l="l" t="t" r="r" b="b"/>
            <a:pathLst>
              <a:path w="19689775" h="4907291">
                <a:moveTo>
                  <a:pt x="0" y="0"/>
                </a:moveTo>
                <a:lnTo>
                  <a:pt x="19689775" y="0"/>
                </a:lnTo>
                <a:lnTo>
                  <a:pt x="19689775" y="4907291"/>
                </a:lnTo>
                <a:lnTo>
                  <a:pt x="0" y="49072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120177"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AE72744B-DEF7-342C-4584-3E5B408EA573}"/>
              </a:ext>
            </a:extLst>
          </p:cNvPr>
          <p:cNvSpPr/>
          <p:nvPr/>
        </p:nvSpPr>
        <p:spPr>
          <a:xfrm>
            <a:off x="-457200" y="-1227995"/>
            <a:ext cx="2928584" cy="2928584"/>
          </a:xfrm>
          <a:custGeom>
            <a:avLst/>
            <a:gdLst/>
            <a:ahLst/>
            <a:cxnLst/>
            <a:rect l="l" t="t" r="r" b="b"/>
            <a:pathLst>
              <a:path w="2928584" h="2928584">
                <a:moveTo>
                  <a:pt x="0" y="0"/>
                </a:moveTo>
                <a:lnTo>
                  <a:pt x="2928583" y="0"/>
                </a:lnTo>
                <a:lnTo>
                  <a:pt x="2928583" y="2928583"/>
                </a:lnTo>
                <a:lnTo>
                  <a:pt x="0" y="29285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1C339B1F-404F-6168-A59F-74FB6F245710}"/>
              </a:ext>
            </a:extLst>
          </p:cNvPr>
          <p:cNvSpPr/>
          <p:nvPr/>
        </p:nvSpPr>
        <p:spPr>
          <a:xfrm flipH="1">
            <a:off x="15550204" y="-1227995"/>
            <a:ext cx="2928584" cy="2928584"/>
          </a:xfrm>
          <a:custGeom>
            <a:avLst/>
            <a:gdLst/>
            <a:ahLst/>
            <a:cxnLst/>
            <a:rect l="l" t="t" r="r" b="b"/>
            <a:pathLst>
              <a:path w="2928584" h="2928584">
                <a:moveTo>
                  <a:pt x="2928583" y="0"/>
                </a:moveTo>
                <a:lnTo>
                  <a:pt x="0" y="0"/>
                </a:lnTo>
                <a:lnTo>
                  <a:pt x="0" y="2928583"/>
                </a:lnTo>
                <a:lnTo>
                  <a:pt x="2928583" y="2928583"/>
                </a:lnTo>
                <a:lnTo>
                  <a:pt x="292858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3E9EAFE4-7F72-0E5D-6684-FBEC7001EED5}"/>
              </a:ext>
            </a:extLst>
          </p:cNvPr>
          <p:cNvSpPr txBox="1"/>
          <p:nvPr/>
        </p:nvSpPr>
        <p:spPr>
          <a:xfrm>
            <a:off x="1422165" y="258884"/>
            <a:ext cx="14423469" cy="859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25"/>
              </a:lnSpc>
            </a:pPr>
            <a:r>
              <a:rPr lang="en-US" sz="58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KELAS INDUK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70A03F-0AD3-B39D-4A08-03686F71A9A6}"/>
              </a:ext>
            </a:extLst>
          </p:cNvPr>
          <p:cNvSpPr txBox="1"/>
          <p:nvPr/>
        </p:nvSpPr>
        <p:spPr>
          <a:xfrm>
            <a:off x="9296400" y="2129597"/>
            <a:ext cx="5638800" cy="2519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6725"/>
              </a:lnSpc>
            </a:pP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Pada </a:t>
            </a:r>
            <a:r>
              <a:rPr lang="en-US" b="1" dirty="0" err="1">
                <a:latin typeface="Poppins Bold"/>
                <a:ea typeface="Poppins Bold"/>
                <a:cs typeface="Poppins Bold"/>
                <a:sym typeface="Poppins Bold"/>
              </a:rPr>
              <a:t>kode</a:t>
            </a: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 di </a:t>
            </a:r>
            <a:r>
              <a:rPr lang="en-US" b="1" dirty="0" err="1">
                <a:latin typeface="Poppins Bold"/>
                <a:ea typeface="Poppins Bold"/>
                <a:cs typeface="Poppins Bold"/>
                <a:sym typeface="Poppins Bold"/>
              </a:rPr>
              <a:t>samping</a:t>
            </a: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1" dirty="0" err="1">
                <a:latin typeface="Poppins Bold"/>
                <a:ea typeface="Poppins Bold"/>
                <a:cs typeface="Poppins Bold"/>
                <a:sym typeface="Poppins Bold"/>
              </a:rPr>
              <a:t>ini</a:t>
            </a: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1" dirty="0" err="1">
                <a:latin typeface="Poppins Bold"/>
                <a:ea typeface="Poppins Bold"/>
                <a:cs typeface="Poppins Bold"/>
                <a:sym typeface="Poppins Bold"/>
              </a:rPr>
              <a:t>menunjukkan</a:t>
            </a: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1" dirty="0" err="1">
                <a:latin typeface="Poppins Bold"/>
                <a:ea typeface="Poppins Bold"/>
                <a:cs typeface="Poppins Bold"/>
                <a:sym typeface="Poppins Bold"/>
              </a:rPr>
              <a:t>bahwa</a:t>
            </a: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1" dirty="0" err="1">
                <a:latin typeface="Poppins Bold"/>
                <a:ea typeface="Poppins Bold"/>
                <a:cs typeface="Poppins Bold"/>
                <a:sym typeface="Poppins Bold"/>
              </a:rPr>
              <a:t>semua</a:t>
            </a: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 item hotel </a:t>
            </a:r>
            <a:r>
              <a:rPr lang="en-US" b="1" dirty="0" err="1">
                <a:latin typeface="Poppins Bold"/>
                <a:ea typeface="Poppins Bold"/>
                <a:cs typeface="Poppins Bold"/>
                <a:sym typeface="Poppins Bold"/>
              </a:rPr>
              <a:t>memiliki</a:t>
            </a: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1" dirty="0" err="1">
                <a:latin typeface="Poppins Bold"/>
                <a:ea typeface="Poppins Bold"/>
                <a:cs typeface="Poppins Bold"/>
                <a:sym typeface="Poppins Bold"/>
              </a:rPr>
              <a:t>fungsi</a:t>
            </a: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  </a:t>
            </a:r>
            <a:r>
              <a:rPr lang="en-US" b="1" dirty="0" err="1">
                <a:latin typeface="Poppins Bold"/>
                <a:ea typeface="Poppins Bold"/>
                <a:cs typeface="Poppins Bold"/>
                <a:sym typeface="Poppins Bold"/>
              </a:rPr>
              <a:t>untuk</a:t>
            </a: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1" dirty="0" err="1">
                <a:latin typeface="Poppins Bold"/>
                <a:ea typeface="Poppins Bold"/>
                <a:cs typeface="Poppins Bold"/>
                <a:sym typeface="Poppins Bold"/>
              </a:rPr>
              <a:t>menampilkan</a:t>
            </a: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1" dirty="0" err="1">
                <a:latin typeface="Poppins Bold"/>
                <a:ea typeface="Poppins Bold"/>
                <a:cs typeface="Poppins Bold"/>
                <a:sym typeface="Poppins Bold"/>
              </a:rPr>
              <a:t>informasi</a:t>
            </a:r>
            <a:endParaRPr lang="en-US" b="1" dirty="0"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675FD48-6254-4210-5E55-A1512A70EBD8}"/>
              </a:ext>
            </a:extLst>
          </p:cNvPr>
          <p:cNvSpPr/>
          <p:nvPr/>
        </p:nvSpPr>
        <p:spPr>
          <a:xfrm>
            <a:off x="1767840" y="2214057"/>
            <a:ext cx="6705600" cy="31710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6725"/>
              </a:lnSpc>
            </a:pP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class </a:t>
            </a:r>
            <a:r>
              <a:rPr lang="en-US" b="1" dirty="0" err="1">
                <a:latin typeface="Poppins Bold"/>
                <a:ea typeface="Poppins Bold"/>
                <a:cs typeface="Poppins Bold"/>
                <a:sym typeface="Poppins Bold"/>
              </a:rPr>
              <a:t>ItemHotel</a:t>
            </a: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(ABC):</a:t>
            </a:r>
          </a:p>
          <a:p>
            <a:pPr>
              <a:lnSpc>
                <a:spcPts val="6725"/>
              </a:lnSpc>
            </a:pP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    @abstractmethod</a:t>
            </a:r>
          </a:p>
          <a:p>
            <a:pPr>
              <a:lnSpc>
                <a:spcPts val="6725"/>
              </a:lnSpc>
            </a:pP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    def </a:t>
            </a:r>
            <a:r>
              <a:rPr lang="en-US" b="1" dirty="0" err="1">
                <a:latin typeface="Poppins Bold"/>
                <a:ea typeface="Poppins Bold"/>
                <a:cs typeface="Poppins Bold"/>
                <a:sym typeface="Poppins Bold"/>
              </a:rPr>
              <a:t>tampilkan_info</a:t>
            </a: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(self):</a:t>
            </a:r>
          </a:p>
          <a:p>
            <a:pPr>
              <a:lnSpc>
                <a:spcPts val="6725"/>
              </a:lnSpc>
            </a:pPr>
            <a:endParaRPr lang="en-US" b="1" dirty="0"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D00925-DFB1-6538-1E5E-02EEC87DFB29}"/>
              </a:ext>
            </a:extLst>
          </p:cNvPr>
          <p:cNvSpPr txBox="1"/>
          <p:nvPr/>
        </p:nvSpPr>
        <p:spPr>
          <a:xfrm>
            <a:off x="6134100" y="603227"/>
            <a:ext cx="6019800" cy="8013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6725"/>
              </a:lnSpc>
            </a:pP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      </a:t>
            </a:r>
            <a:endParaRPr lang="en-US" sz="1800" b="1" dirty="0"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4BB9B70-7CAA-886B-491D-D11EAE422A35}"/>
              </a:ext>
            </a:extLst>
          </p:cNvPr>
          <p:cNvSpPr/>
          <p:nvPr/>
        </p:nvSpPr>
        <p:spPr>
          <a:xfrm>
            <a:off x="9601200" y="6374309"/>
            <a:ext cx="6705600" cy="31710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6725"/>
              </a:lnSpc>
            </a:pP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self.__</a:t>
            </a:r>
            <a:r>
              <a:rPr lang="en-US" b="1" dirty="0" err="1">
                <a:latin typeface="Poppins Bold"/>
                <a:ea typeface="Poppins Bold"/>
                <a:cs typeface="Poppins Bold"/>
                <a:sym typeface="Poppins Bold"/>
              </a:rPr>
              <a:t>nomor</a:t>
            </a:r>
            <a:endParaRPr lang="en-US" b="1" dirty="0">
              <a:latin typeface="Poppins Bold"/>
              <a:ea typeface="Poppins Bold"/>
              <a:cs typeface="Poppins Bold"/>
              <a:sym typeface="Poppins Bold"/>
            </a:endParaRPr>
          </a:p>
          <a:p>
            <a:pPr>
              <a:lnSpc>
                <a:spcPts val="6725"/>
              </a:lnSpc>
            </a:pP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self.__</a:t>
            </a:r>
            <a:r>
              <a:rPr lang="en-US" b="1" dirty="0" err="1">
                <a:latin typeface="Poppins Bold"/>
                <a:ea typeface="Poppins Bold"/>
                <a:cs typeface="Poppins Bold"/>
                <a:sym typeface="Poppins Bold"/>
              </a:rPr>
              <a:t>tipe</a:t>
            </a:r>
            <a:endParaRPr lang="en-US" b="1" dirty="0">
              <a:latin typeface="Poppins Bold"/>
              <a:ea typeface="Poppins Bold"/>
              <a:cs typeface="Poppins Bold"/>
              <a:sym typeface="Poppins Bold"/>
            </a:endParaRPr>
          </a:p>
          <a:p>
            <a:pPr>
              <a:lnSpc>
                <a:spcPts val="6725"/>
              </a:lnSpc>
            </a:pP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self.__</a:t>
            </a:r>
            <a:r>
              <a:rPr lang="en-US" b="1" dirty="0" err="1">
                <a:latin typeface="Poppins Bold"/>
                <a:ea typeface="Poppins Bold"/>
                <a:cs typeface="Poppins Bold"/>
                <a:sym typeface="Poppins Bold"/>
              </a:rPr>
              <a:t>harga</a:t>
            </a:r>
            <a:endParaRPr lang="en-US" b="1" dirty="0">
              <a:latin typeface="Poppins Bold"/>
              <a:ea typeface="Poppins Bold"/>
              <a:cs typeface="Poppins Bold"/>
              <a:sym typeface="Poppins Bold"/>
            </a:endParaRPr>
          </a:p>
          <a:p>
            <a:pPr>
              <a:lnSpc>
                <a:spcPts val="6725"/>
              </a:lnSpc>
            </a:pPr>
            <a:r>
              <a:rPr lang="en-US" b="1" dirty="0" err="1">
                <a:latin typeface="Poppins Bold"/>
                <a:ea typeface="Poppins Bold"/>
                <a:cs typeface="Poppins Bold"/>
                <a:sym typeface="Poppins Bold"/>
              </a:rPr>
              <a:t>self.__status</a:t>
            </a:r>
            <a:endParaRPr lang="en-US" b="1" dirty="0"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F735B5-0B15-2C3A-D636-3440EC54B6B0}"/>
              </a:ext>
            </a:extLst>
          </p:cNvPr>
          <p:cNvSpPr txBox="1"/>
          <p:nvPr/>
        </p:nvSpPr>
        <p:spPr>
          <a:xfrm>
            <a:off x="10287000" y="5181600"/>
            <a:ext cx="6019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latin typeface="Poppins Bold"/>
                <a:ea typeface="Poppins Bold"/>
                <a:cs typeface="Poppins Bold"/>
                <a:sym typeface="Poppins Bold"/>
              </a:rPr>
              <a:t>ENCAPSULATION</a:t>
            </a:r>
          </a:p>
          <a:p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D11F14-7BE9-D51F-11DF-7618C6D8BD50}"/>
              </a:ext>
            </a:extLst>
          </p:cNvPr>
          <p:cNvSpPr txBox="1"/>
          <p:nvPr/>
        </p:nvSpPr>
        <p:spPr>
          <a:xfrm>
            <a:off x="1767840" y="6366689"/>
            <a:ext cx="6263640" cy="2519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6725"/>
              </a:lnSpc>
            </a:pP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Pada </a:t>
            </a:r>
            <a:r>
              <a:rPr lang="en-US" b="1" dirty="0" err="1">
                <a:latin typeface="Poppins Bold"/>
                <a:ea typeface="Poppins Bold"/>
                <a:cs typeface="Poppins Bold"/>
                <a:sym typeface="Poppins Bold"/>
              </a:rPr>
              <a:t>kode</a:t>
            </a: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1" dirty="0" err="1">
                <a:latin typeface="Poppins Bold"/>
                <a:ea typeface="Poppins Bold"/>
                <a:cs typeface="Poppins Bold"/>
                <a:sym typeface="Poppins Bold"/>
              </a:rPr>
              <a:t>diatas</a:t>
            </a: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1" dirty="0" err="1">
                <a:latin typeface="Poppins Bold"/>
                <a:ea typeface="Poppins Bold"/>
                <a:cs typeface="Poppins Bold"/>
                <a:sym typeface="Poppins Bold"/>
              </a:rPr>
              <a:t>ini</a:t>
            </a: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1" dirty="0" err="1">
                <a:latin typeface="Poppins Bold"/>
                <a:ea typeface="Poppins Bold"/>
                <a:cs typeface="Poppins Bold"/>
                <a:sym typeface="Poppins Bold"/>
              </a:rPr>
              <a:t>menunjukkan</a:t>
            </a: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1" dirty="0" err="1">
                <a:latin typeface="Poppins Bold"/>
                <a:ea typeface="Poppins Bold"/>
                <a:cs typeface="Poppins Bold"/>
                <a:sym typeface="Poppins Bold"/>
              </a:rPr>
              <a:t>bahwa</a:t>
            </a: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1" dirty="0" err="1">
                <a:latin typeface="Poppins Bold"/>
                <a:ea typeface="Poppins Bold"/>
                <a:cs typeface="Poppins Bold"/>
                <a:sym typeface="Poppins Bold"/>
              </a:rPr>
              <a:t>semua</a:t>
            </a: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1" dirty="0" err="1">
                <a:latin typeface="Poppins Bold"/>
                <a:ea typeface="Poppins Bold"/>
                <a:cs typeface="Poppins Bold"/>
                <a:sym typeface="Poppins Bold"/>
              </a:rPr>
              <a:t>menampilkan</a:t>
            </a: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  data </a:t>
            </a:r>
            <a:r>
              <a:rPr lang="en-US" b="1" dirty="0" err="1">
                <a:latin typeface="Poppins Bold"/>
                <a:ea typeface="Poppins Bold"/>
                <a:cs typeface="Poppins Bold"/>
                <a:sym typeface="Poppins Bold"/>
              </a:rPr>
              <a:t>dari</a:t>
            </a: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 hotel yang di </a:t>
            </a:r>
            <a:r>
              <a:rPr lang="en-US" b="1" dirty="0" err="1">
                <a:latin typeface="Poppins Bold"/>
                <a:ea typeface="Poppins Bold"/>
                <a:cs typeface="Poppins Bold"/>
                <a:sym typeface="Poppins Bold"/>
              </a:rPr>
              <a:t>sembunyikan</a:t>
            </a:r>
            <a:endParaRPr lang="en-US" b="1" dirty="0">
              <a:latin typeface="Poppins Bold"/>
              <a:ea typeface="Poppins Bold"/>
              <a:cs typeface="Poppins Bold"/>
              <a:sym typeface="Poppins Bold"/>
            </a:endParaRPr>
          </a:p>
        </p:txBody>
      </p:sp>
    </p:spTree>
    <p:extLst>
      <p:ext uri="{BB962C8B-B14F-4D97-AF65-F5344CB8AC3E}">
        <p14:creationId xmlns:p14="http://schemas.microsoft.com/office/powerpoint/2010/main" val="37830293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6D9E79-C281-E1F1-6C96-EACC20BD3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426F645-78E0-4C8E-9A4F-A41AE09680AA}"/>
              </a:ext>
            </a:extLst>
          </p:cNvPr>
          <p:cNvSpPr/>
          <p:nvPr/>
        </p:nvSpPr>
        <p:spPr>
          <a:xfrm>
            <a:off x="-1210987" y="-1227995"/>
            <a:ext cx="19689775" cy="3171095"/>
          </a:xfrm>
          <a:custGeom>
            <a:avLst/>
            <a:gdLst/>
            <a:ahLst/>
            <a:cxnLst/>
            <a:rect l="l" t="t" r="r" b="b"/>
            <a:pathLst>
              <a:path w="19689775" h="4907291">
                <a:moveTo>
                  <a:pt x="0" y="0"/>
                </a:moveTo>
                <a:lnTo>
                  <a:pt x="19689775" y="0"/>
                </a:lnTo>
                <a:lnTo>
                  <a:pt x="19689775" y="4907291"/>
                </a:lnTo>
                <a:lnTo>
                  <a:pt x="0" y="49072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120177"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0171EA6C-AA19-9633-6FB6-2FC66608EAB9}"/>
              </a:ext>
            </a:extLst>
          </p:cNvPr>
          <p:cNvSpPr/>
          <p:nvPr/>
        </p:nvSpPr>
        <p:spPr>
          <a:xfrm>
            <a:off x="-457200" y="-1227995"/>
            <a:ext cx="2928584" cy="2928584"/>
          </a:xfrm>
          <a:custGeom>
            <a:avLst/>
            <a:gdLst/>
            <a:ahLst/>
            <a:cxnLst/>
            <a:rect l="l" t="t" r="r" b="b"/>
            <a:pathLst>
              <a:path w="2928584" h="2928584">
                <a:moveTo>
                  <a:pt x="0" y="0"/>
                </a:moveTo>
                <a:lnTo>
                  <a:pt x="2928583" y="0"/>
                </a:lnTo>
                <a:lnTo>
                  <a:pt x="2928583" y="2928583"/>
                </a:lnTo>
                <a:lnTo>
                  <a:pt x="0" y="29285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2299277E-9866-77CF-8329-46C092421CB4}"/>
              </a:ext>
            </a:extLst>
          </p:cNvPr>
          <p:cNvSpPr/>
          <p:nvPr/>
        </p:nvSpPr>
        <p:spPr>
          <a:xfrm flipH="1">
            <a:off x="15550204" y="-1227995"/>
            <a:ext cx="2928584" cy="2928584"/>
          </a:xfrm>
          <a:custGeom>
            <a:avLst/>
            <a:gdLst/>
            <a:ahLst/>
            <a:cxnLst/>
            <a:rect l="l" t="t" r="r" b="b"/>
            <a:pathLst>
              <a:path w="2928584" h="2928584">
                <a:moveTo>
                  <a:pt x="2928583" y="0"/>
                </a:moveTo>
                <a:lnTo>
                  <a:pt x="0" y="0"/>
                </a:lnTo>
                <a:lnTo>
                  <a:pt x="0" y="2928583"/>
                </a:lnTo>
                <a:lnTo>
                  <a:pt x="2928583" y="2928583"/>
                </a:lnTo>
                <a:lnTo>
                  <a:pt x="292858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AF7B627E-0058-1D90-C7EE-5B603B0FA9C6}"/>
              </a:ext>
            </a:extLst>
          </p:cNvPr>
          <p:cNvSpPr txBox="1"/>
          <p:nvPr/>
        </p:nvSpPr>
        <p:spPr>
          <a:xfrm>
            <a:off x="1422165" y="-40690"/>
            <a:ext cx="14423469" cy="1718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25"/>
              </a:lnSpc>
            </a:pPr>
            <a:r>
              <a:rPr lang="en-US" sz="58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Inheritance</a:t>
            </a:r>
          </a:p>
          <a:p>
            <a:pPr algn="ctr">
              <a:lnSpc>
                <a:spcPts val="6725"/>
              </a:lnSpc>
            </a:pPr>
            <a:r>
              <a:rPr lang="en-US" sz="58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(</a:t>
            </a:r>
            <a:r>
              <a:rPr lang="en-US" sz="5899" b="1" dirty="0" err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Pewarisan</a:t>
            </a:r>
            <a:r>
              <a:rPr lang="en-US" sz="58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8950F9-0E51-8151-35E9-709049BA827D}"/>
              </a:ext>
            </a:extLst>
          </p:cNvPr>
          <p:cNvSpPr txBox="1"/>
          <p:nvPr/>
        </p:nvSpPr>
        <p:spPr>
          <a:xfrm>
            <a:off x="2501864" y="6561753"/>
            <a:ext cx="9845040" cy="1660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6725"/>
              </a:lnSpc>
            </a:pP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Pada </a:t>
            </a:r>
            <a:r>
              <a:rPr lang="en-US" b="1" dirty="0" err="1">
                <a:latin typeface="Poppins Bold"/>
                <a:ea typeface="Poppins Bold"/>
                <a:cs typeface="Poppins Bold"/>
                <a:sym typeface="Poppins Bold"/>
              </a:rPr>
              <a:t>kode</a:t>
            </a: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1" dirty="0" err="1">
                <a:latin typeface="Poppins Bold"/>
                <a:ea typeface="Poppins Bold"/>
                <a:cs typeface="Poppins Bold"/>
                <a:sym typeface="Poppins Bold"/>
              </a:rPr>
              <a:t>diatas</a:t>
            </a: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1" dirty="0" err="1">
                <a:latin typeface="Poppins Bold"/>
                <a:ea typeface="Poppins Bold"/>
                <a:cs typeface="Poppins Bold"/>
                <a:sym typeface="Poppins Bold"/>
              </a:rPr>
              <a:t>dibuat</a:t>
            </a: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1" dirty="0" err="1">
                <a:latin typeface="Poppins Bold"/>
                <a:ea typeface="Poppins Bold"/>
                <a:cs typeface="Poppins Bold"/>
                <a:sym typeface="Poppins Bold"/>
              </a:rPr>
              <a:t>menggunakan</a:t>
            </a: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1" dirty="0" err="1">
                <a:latin typeface="Poppins Bold"/>
                <a:ea typeface="Poppins Bold"/>
                <a:cs typeface="Poppins Bold"/>
                <a:sym typeface="Poppins Bold"/>
              </a:rPr>
              <a:t>konsep</a:t>
            </a: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1" dirty="0" err="1">
                <a:latin typeface="Poppins Bold"/>
                <a:ea typeface="Poppins Bold"/>
                <a:cs typeface="Poppins Bold"/>
                <a:sym typeface="Poppins Bold"/>
              </a:rPr>
              <a:t>pewarisan</a:t>
            </a: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1" dirty="0" err="1">
                <a:latin typeface="Poppins Bold"/>
                <a:ea typeface="Poppins Bold"/>
                <a:cs typeface="Poppins Bold"/>
                <a:sym typeface="Poppins Bold"/>
              </a:rPr>
              <a:t>sehingga</a:t>
            </a: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  </a:t>
            </a:r>
            <a:r>
              <a:rPr lang="en-US" b="1" dirty="0" err="1">
                <a:latin typeface="Poppins Bold"/>
                <a:ea typeface="Poppins Bold"/>
                <a:cs typeface="Poppins Bold"/>
                <a:sym typeface="Poppins Bold"/>
              </a:rPr>
              <a:t>kode</a:t>
            </a: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1" dirty="0" err="1">
                <a:latin typeface="Poppins Bold"/>
                <a:ea typeface="Poppins Bold"/>
                <a:cs typeface="Poppins Bold"/>
                <a:sym typeface="Poppins Bold"/>
              </a:rPr>
              <a:t>lebih</a:t>
            </a: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1" dirty="0" err="1">
                <a:latin typeface="Poppins Bold"/>
                <a:ea typeface="Poppins Bold"/>
                <a:cs typeface="Poppins Bold"/>
                <a:sym typeface="Poppins Bold"/>
              </a:rPr>
              <a:t>rapi</a:t>
            </a: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 dan </a:t>
            </a:r>
            <a:r>
              <a:rPr lang="en-US" b="1" dirty="0" err="1">
                <a:latin typeface="Poppins Bold"/>
                <a:ea typeface="Poppins Bold"/>
                <a:cs typeface="Poppins Bold"/>
                <a:sym typeface="Poppins Bold"/>
              </a:rPr>
              <a:t>mudah</a:t>
            </a: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1" dirty="0" err="1">
                <a:latin typeface="Poppins Bold"/>
                <a:ea typeface="Poppins Bold"/>
                <a:cs typeface="Poppins Bold"/>
                <a:sym typeface="Poppins Bold"/>
              </a:rPr>
              <a:t>dikembangkan</a:t>
            </a:r>
            <a:endParaRPr lang="en-US" sz="1800" b="1" dirty="0"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1F81C5-7529-BBFD-97A2-3D5BACECC926}"/>
              </a:ext>
            </a:extLst>
          </p:cNvPr>
          <p:cNvSpPr txBox="1"/>
          <p:nvPr/>
        </p:nvSpPr>
        <p:spPr>
          <a:xfrm>
            <a:off x="2819400" y="1892534"/>
            <a:ext cx="12875296" cy="4238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6725"/>
              </a:lnSpc>
            </a:pPr>
            <a:r>
              <a:rPr lang="en-US" b="1" dirty="0" err="1">
                <a:latin typeface="Poppins Bold"/>
                <a:ea typeface="Poppins Bold"/>
                <a:cs typeface="Poppins Bold"/>
                <a:sym typeface="Poppins Bold"/>
              </a:rPr>
              <a:t>ItemHotel</a:t>
            </a: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  	</a:t>
            </a:r>
          </a:p>
          <a:p>
            <a:pPr>
              <a:lnSpc>
                <a:spcPts val="6725"/>
              </a:lnSpc>
            </a:pP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 -Kamar</a:t>
            </a:r>
          </a:p>
          <a:p>
            <a:pPr>
              <a:lnSpc>
                <a:spcPts val="6725"/>
              </a:lnSpc>
            </a:pP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 -</a:t>
            </a:r>
            <a:r>
              <a:rPr lang="en-US" b="1" dirty="0" err="1">
                <a:latin typeface="Poppins Bold"/>
                <a:ea typeface="Poppins Bold"/>
                <a:cs typeface="Poppins Bold"/>
                <a:sym typeface="Poppins Bold"/>
              </a:rPr>
              <a:t>KamarStandard</a:t>
            </a: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  <a:p>
            <a:pPr>
              <a:lnSpc>
                <a:spcPts val="6725"/>
              </a:lnSpc>
            </a:pP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1" dirty="0" err="1">
                <a:latin typeface="Poppins Bold"/>
                <a:ea typeface="Poppins Bold"/>
                <a:cs typeface="Poppins Bold"/>
                <a:sym typeface="Poppins Bold"/>
              </a:rPr>
              <a:t>KamarVIP</a:t>
            </a: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  <a:p>
            <a:pPr>
              <a:lnSpc>
                <a:spcPts val="6725"/>
              </a:lnSpc>
            </a:pPr>
            <a:r>
              <a:rPr lang="en-US" b="1" dirty="0" err="1">
                <a:latin typeface="Poppins Bold"/>
                <a:ea typeface="Poppins Bold"/>
                <a:cs typeface="Poppins Bold"/>
                <a:sym typeface="Poppins Bold"/>
              </a:rPr>
              <a:t>KamarVIPGold</a:t>
            </a:r>
            <a:endParaRPr lang="en-US" sz="1800" b="1" dirty="0">
              <a:latin typeface="Poppins Bold"/>
              <a:ea typeface="Poppins Bold"/>
              <a:cs typeface="Poppins Bold"/>
              <a:sym typeface="Poppins Bold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A1CEF4D-594A-EC3E-5F20-3BE357123607}"/>
              </a:ext>
            </a:extLst>
          </p:cNvPr>
          <p:cNvCxnSpPr>
            <a:cxnSpLocks/>
          </p:cNvCxnSpPr>
          <p:nvPr/>
        </p:nvCxnSpPr>
        <p:spPr>
          <a:xfrm>
            <a:off x="3480429" y="2701746"/>
            <a:ext cx="0" cy="4964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909D866-4B3B-AA2F-1308-FFE098DDE40D}"/>
              </a:ext>
            </a:extLst>
          </p:cNvPr>
          <p:cNvCxnSpPr>
            <a:cxnSpLocks/>
          </p:cNvCxnSpPr>
          <p:nvPr/>
        </p:nvCxnSpPr>
        <p:spPr>
          <a:xfrm>
            <a:off x="3556629" y="3515226"/>
            <a:ext cx="0" cy="4964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1A019C2-ABF8-8682-8576-3E6A13FABE67}"/>
              </a:ext>
            </a:extLst>
          </p:cNvPr>
          <p:cNvCxnSpPr>
            <a:cxnSpLocks/>
          </p:cNvCxnSpPr>
          <p:nvPr/>
        </p:nvCxnSpPr>
        <p:spPr>
          <a:xfrm>
            <a:off x="3556629" y="5272939"/>
            <a:ext cx="0" cy="4964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1A3A6B98-1547-BD23-B43B-B9D8510D8CE0}"/>
              </a:ext>
            </a:extLst>
          </p:cNvPr>
          <p:cNvSpPr/>
          <p:nvPr/>
        </p:nvSpPr>
        <p:spPr>
          <a:xfrm>
            <a:off x="6476999" y="2177885"/>
            <a:ext cx="10972799" cy="46539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latin typeface="Poppins" panose="00000500000000000000" pitchFamily="2" charset="0"/>
                <a:cs typeface="Poppins" panose="00000500000000000000" pitchFamily="2" charset="0"/>
              </a:rPr>
              <a:t>def update_status_kamar(</a:t>
            </a:r>
          </a:p>
          <a:p>
            <a:r>
              <a:rPr lang="en-US" b="1">
                <a:latin typeface="Poppins" panose="00000500000000000000" pitchFamily="2" charset="0"/>
                <a:cs typeface="Poppins" panose="00000500000000000000" pitchFamily="2" charset="0"/>
              </a:rPr>
              <a:t>    self,nomor,status</a:t>
            </a:r>
          </a:p>
          <a:p>
            <a:r>
              <a:rPr lang="en-US" b="1">
                <a:latin typeface="Poppins" panose="00000500000000000000" pitchFamily="2" charset="0"/>
                <a:cs typeface="Poppins" panose="00000500000000000000" pitchFamily="2" charset="0"/>
              </a:rPr>
              <a:t>):</a:t>
            </a:r>
          </a:p>
          <a:p>
            <a:endParaRPr lang="en-US" b="1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b="1">
                <a:latin typeface="Poppins" panose="00000500000000000000" pitchFamily="2" charset="0"/>
                <a:cs typeface="Poppins" panose="00000500000000000000" pitchFamily="2" charset="0"/>
              </a:rPr>
              <a:t>    kamar = self.cari_kamar(</a:t>
            </a:r>
          </a:p>
          <a:p>
            <a:r>
              <a:rPr lang="en-US" b="1">
                <a:latin typeface="Poppins" panose="00000500000000000000" pitchFamily="2" charset="0"/>
                <a:cs typeface="Poppins" panose="00000500000000000000" pitchFamily="2" charset="0"/>
              </a:rPr>
              <a:t>        nomor</a:t>
            </a:r>
          </a:p>
          <a:p>
            <a:r>
              <a:rPr lang="en-US" b="1">
                <a:latin typeface="Poppins" panose="00000500000000000000" pitchFamily="2" charset="0"/>
                <a:cs typeface="Poppins" panose="00000500000000000000" pitchFamily="2" charset="0"/>
              </a:rPr>
              <a:t>    )</a:t>
            </a:r>
          </a:p>
          <a:p>
            <a:endParaRPr lang="en-US" b="1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b="1">
                <a:latin typeface="Poppins" panose="00000500000000000000" pitchFamily="2" charset="0"/>
                <a:cs typeface="Poppins" panose="00000500000000000000" pitchFamily="2" charset="0"/>
              </a:rPr>
              <a:t>    if not kamar:</a:t>
            </a:r>
          </a:p>
          <a:p>
            <a:endParaRPr lang="en-US" b="1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b="1">
                <a:latin typeface="Poppins" panose="00000500000000000000" pitchFamily="2" charset="0"/>
                <a:cs typeface="Poppins" panose="00000500000000000000" pitchFamily="2" charset="0"/>
              </a:rPr>
              <a:t>        raise DataTidakDitemukanError(</a:t>
            </a:r>
          </a:p>
          <a:p>
            <a:r>
              <a:rPr lang="en-US" b="1">
                <a:latin typeface="Poppins" panose="00000500000000000000" pitchFamily="2" charset="0"/>
                <a:cs typeface="Poppins" panose="00000500000000000000" pitchFamily="2" charset="0"/>
              </a:rPr>
              <a:t>            "Kamar tidak ditemukan"</a:t>
            </a:r>
          </a:p>
          <a:p>
            <a:r>
              <a:rPr lang="en-US" b="1">
                <a:latin typeface="Poppins" panose="00000500000000000000" pitchFamily="2" charset="0"/>
                <a:cs typeface="Poppins" panose="00000500000000000000" pitchFamily="2" charset="0"/>
              </a:rPr>
              <a:t>        )</a:t>
            </a:r>
          </a:p>
          <a:p>
            <a:endParaRPr lang="en-US" b="1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b="1">
                <a:latin typeface="Poppins" panose="00000500000000000000" pitchFamily="2" charset="0"/>
                <a:cs typeface="Poppins" panose="00000500000000000000" pitchFamily="2" charset="0"/>
              </a:rPr>
              <a:t>    kamar.status = status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6587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276509">
            <a:off x="-2146748" y="-2112438"/>
            <a:ext cx="13735626" cy="15889606"/>
          </a:xfrm>
          <a:custGeom>
            <a:avLst/>
            <a:gdLst/>
            <a:ahLst/>
            <a:cxnLst/>
            <a:rect l="l" t="t" r="r" b="b"/>
            <a:pathLst>
              <a:path w="19689775" h="10804764">
                <a:moveTo>
                  <a:pt x="0" y="0"/>
                </a:moveTo>
                <a:lnTo>
                  <a:pt x="19689775" y="0"/>
                </a:lnTo>
                <a:lnTo>
                  <a:pt x="19689775" y="10804764"/>
                </a:lnTo>
                <a:lnTo>
                  <a:pt x="0" y="108047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3616091">
            <a:off x="-293793" y="8471069"/>
            <a:ext cx="2644985" cy="2644985"/>
          </a:xfrm>
          <a:custGeom>
            <a:avLst/>
            <a:gdLst/>
            <a:ahLst/>
            <a:cxnLst/>
            <a:rect l="l" t="t" r="r" b="b"/>
            <a:pathLst>
              <a:path w="2644985" h="2644985">
                <a:moveTo>
                  <a:pt x="0" y="0"/>
                </a:moveTo>
                <a:lnTo>
                  <a:pt x="2644986" y="0"/>
                </a:lnTo>
                <a:lnTo>
                  <a:pt x="2644986" y="2644985"/>
                </a:lnTo>
                <a:lnTo>
                  <a:pt x="0" y="26449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28700" y="2538083"/>
            <a:ext cx="4860130" cy="455637"/>
          </a:xfrm>
          <a:custGeom>
            <a:avLst/>
            <a:gdLst/>
            <a:ahLst/>
            <a:cxnLst/>
            <a:rect l="l" t="t" r="r" b="b"/>
            <a:pathLst>
              <a:path w="4860130" h="455637">
                <a:moveTo>
                  <a:pt x="0" y="0"/>
                </a:moveTo>
                <a:lnTo>
                  <a:pt x="4860130" y="0"/>
                </a:lnTo>
                <a:lnTo>
                  <a:pt x="4860130" y="455637"/>
                </a:lnTo>
                <a:lnTo>
                  <a:pt x="0" y="4556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-47388" y="1530290"/>
            <a:ext cx="10528799" cy="987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718"/>
              </a:lnSpc>
            </a:pPr>
            <a:r>
              <a:rPr lang="en-US" sz="6326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MIXINS - </a:t>
            </a:r>
            <a:r>
              <a:rPr lang="en-US" sz="6600" b="1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ValidationMixin</a:t>
            </a:r>
            <a:endParaRPr lang="en-US" sz="6326" b="1" dirty="0">
              <a:solidFill>
                <a:schemeClr val="bg1"/>
              </a:solidFill>
              <a:latin typeface="Poppins" panose="00000500000000000000" pitchFamily="2" charset="0"/>
              <a:ea typeface="Poppins Bold"/>
              <a:cs typeface="Poppins" panose="00000500000000000000" pitchFamily="2" charset="0"/>
              <a:sym typeface="Poppins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-295945" y="3394682"/>
            <a:ext cx="3496346" cy="6142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855"/>
              </a:lnSpc>
            </a:pPr>
            <a:r>
              <a:rPr lang="en-US" sz="3980" b="1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LoggingMixin</a:t>
            </a:r>
            <a:endParaRPr lang="en-US" sz="3980" b="1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3086608" y="8685063"/>
            <a:ext cx="4172692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64"/>
              </a:lnSpc>
            </a:pPr>
            <a:r>
              <a:rPr lang="en-US" sz="2074" spc="6" dirty="0">
                <a:solidFill>
                  <a:srgbClr val="2B4284"/>
                </a:solidFill>
                <a:latin typeface="Poppins"/>
                <a:ea typeface="Poppins"/>
                <a:cs typeface="Poppins"/>
                <a:sym typeface="Poppins"/>
              </a:rPr>
              <a:t>*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58CC03B-9CDC-6EE0-C94B-58F91CB0B11A}"/>
              </a:ext>
            </a:extLst>
          </p:cNvPr>
          <p:cNvSpPr/>
          <p:nvPr/>
        </p:nvSpPr>
        <p:spPr>
          <a:xfrm>
            <a:off x="-533400" y="4409851"/>
            <a:ext cx="4191000" cy="217248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198ED2-CF3A-0BA4-FF7F-14AF159B951B}"/>
              </a:ext>
            </a:extLst>
          </p:cNvPr>
          <p:cNvSpPr txBox="1"/>
          <p:nvPr/>
        </p:nvSpPr>
        <p:spPr>
          <a:xfrm>
            <a:off x="-533401" y="4561426"/>
            <a:ext cx="85714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def log(self, </a:t>
            </a:r>
            <a:r>
              <a:rPr lang="en-US" dirty="0" err="1">
                <a:latin typeface="Poppins" panose="00000500000000000000" pitchFamily="2" charset="0"/>
                <a:cs typeface="Poppins" panose="00000500000000000000" pitchFamily="2" charset="0"/>
              </a:rPr>
              <a:t>pesan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):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D335954-6781-D06C-584F-18541AE06B4C}"/>
              </a:ext>
            </a:extLst>
          </p:cNvPr>
          <p:cNvSpPr txBox="1"/>
          <p:nvPr/>
        </p:nvSpPr>
        <p:spPr>
          <a:xfrm>
            <a:off x="-990600" y="7223452"/>
            <a:ext cx="4876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MIXINS</a:t>
            </a:r>
            <a:r>
              <a:rPr lang="en-US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1" dirty="0" err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digunakan</a:t>
            </a:r>
            <a:r>
              <a:rPr lang="en-US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/</a:t>
            </a:r>
            <a:r>
              <a:rPr lang="en-US" b="1" dirty="0" err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berfungsi</a:t>
            </a:r>
            <a:r>
              <a:rPr lang="en-US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1" dirty="0" err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untuk</a:t>
            </a:r>
            <a:r>
              <a:rPr lang="en-US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1" dirty="0" err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mencatat</a:t>
            </a:r>
            <a:r>
              <a:rPr lang="en-US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1" dirty="0" err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aktivitas</a:t>
            </a:r>
            <a:r>
              <a:rPr lang="en-US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1" dirty="0" err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sistem</a:t>
            </a:r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F30C6B3-B4D7-38D3-5A36-A65A4569D0FF}"/>
              </a:ext>
            </a:extLst>
          </p:cNvPr>
          <p:cNvSpPr/>
          <p:nvPr/>
        </p:nvSpPr>
        <p:spPr>
          <a:xfrm>
            <a:off x="4545638" y="4409851"/>
            <a:ext cx="4191000" cy="217248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C253025-D5C2-E467-8150-5102D3141775}"/>
              </a:ext>
            </a:extLst>
          </p:cNvPr>
          <p:cNvSpPr txBox="1"/>
          <p:nvPr/>
        </p:nvSpPr>
        <p:spPr>
          <a:xfrm>
            <a:off x="4545637" y="4561426"/>
            <a:ext cx="85714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def </a:t>
            </a:r>
            <a:r>
              <a:rPr lang="en-US" dirty="0" err="1">
                <a:latin typeface="Poppins" panose="00000500000000000000" pitchFamily="2" charset="0"/>
                <a:cs typeface="Poppins" panose="00000500000000000000" pitchFamily="2" charset="0"/>
              </a:rPr>
              <a:t>validasi_nomor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(self, </a:t>
            </a:r>
            <a:r>
              <a:rPr lang="en-US" dirty="0" err="1">
                <a:latin typeface="Poppins" panose="00000500000000000000" pitchFamily="2" charset="0"/>
                <a:cs typeface="Poppins" panose="00000500000000000000" pitchFamily="2" charset="0"/>
              </a:rPr>
              <a:t>nomor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):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CC68008-C4D8-2DD8-0BC4-14C42C27D2C2}"/>
              </a:ext>
            </a:extLst>
          </p:cNvPr>
          <p:cNvSpPr txBox="1"/>
          <p:nvPr/>
        </p:nvSpPr>
        <p:spPr>
          <a:xfrm>
            <a:off x="4530397" y="3349958"/>
            <a:ext cx="10881360" cy="703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855"/>
              </a:lnSpc>
            </a:pPr>
            <a:r>
              <a:rPr lang="en-US" sz="3900" b="1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ValidationMixin</a:t>
            </a:r>
            <a:endParaRPr lang="en-US" sz="3900" b="1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44D7033-FBE1-67F5-D0CD-CCB9B2166757}"/>
              </a:ext>
            </a:extLst>
          </p:cNvPr>
          <p:cNvSpPr txBox="1"/>
          <p:nvPr/>
        </p:nvSpPr>
        <p:spPr>
          <a:xfrm>
            <a:off x="4435672" y="7223451"/>
            <a:ext cx="43956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MIXINS</a:t>
            </a:r>
            <a:r>
              <a:rPr lang="en-US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1" dirty="0" err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digunakan</a:t>
            </a:r>
            <a:r>
              <a:rPr lang="en-US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/</a:t>
            </a:r>
            <a:r>
              <a:rPr lang="en-US" b="1" dirty="0" err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berfungsi</a:t>
            </a:r>
            <a:r>
              <a:rPr lang="en-US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1" dirty="0" err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untuk</a:t>
            </a:r>
            <a:r>
              <a:rPr lang="en-US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1" dirty="0" err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memvalidasi</a:t>
            </a:r>
            <a:r>
              <a:rPr lang="en-US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1" dirty="0" err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nomor</a:t>
            </a:r>
            <a:r>
              <a:rPr lang="en-US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1" dirty="0" err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kamar</a:t>
            </a:r>
            <a:endParaRPr lang="en-US" dirty="0"/>
          </a:p>
        </p:txBody>
      </p:sp>
      <p:sp>
        <p:nvSpPr>
          <p:cNvPr id="31" name="Freeform 3">
            <a:extLst>
              <a:ext uri="{FF2B5EF4-FFF2-40B4-BE49-F238E27FC236}">
                <a16:creationId xmlns:a16="http://schemas.microsoft.com/office/drawing/2014/main" id="{3C324E53-D2E3-39EE-23B3-725F4E702BA9}"/>
              </a:ext>
            </a:extLst>
          </p:cNvPr>
          <p:cNvSpPr/>
          <p:nvPr/>
        </p:nvSpPr>
        <p:spPr>
          <a:xfrm>
            <a:off x="13259511" y="1220733"/>
            <a:ext cx="3431732" cy="2998475"/>
          </a:xfrm>
          <a:custGeom>
            <a:avLst/>
            <a:gdLst/>
            <a:ahLst/>
            <a:cxnLst/>
            <a:rect l="l" t="t" r="r" b="b"/>
            <a:pathLst>
              <a:path w="3431732" h="2998475">
                <a:moveTo>
                  <a:pt x="0" y="0"/>
                </a:moveTo>
                <a:lnTo>
                  <a:pt x="3431732" y="0"/>
                </a:lnTo>
                <a:lnTo>
                  <a:pt x="3431732" y="2998475"/>
                </a:lnTo>
                <a:lnTo>
                  <a:pt x="0" y="29984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3">
            <a:extLst>
              <a:ext uri="{FF2B5EF4-FFF2-40B4-BE49-F238E27FC236}">
                <a16:creationId xmlns:a16="http://schemas.microsoft.com/office/drawing/2014/main" id="{27FFC49E-4BF9-F201-D7B4-1B9DA1B285E3}"/>
              </a:ext>
            </a:extLst>
          </p:cNvPr>
          <p:cNvSpPr/>
          <p:nvPr/>
        </p:nvSpPr>
        <p:spPr>
          <a:xfrm>
            <a:off x="13259511" y="5919312"/>
            <a:ext cx="3879825" cy="2938967"/>
          </a:xfrm>
          <a:custGeom>
            <a:avLst/>
            <a:gdLst/>
            <a:ahLst/>
            <a:cxnLst/>
            <a:rect l="l" t="t" r="r" b="b"/>
            <a:pathLst>
              <a:path w="3879825" h="2938967">
                <a:moveTo>
                  <a:pt x="0" y="0"/>
                </a:moveTo>
                <a:lnTo>
                  <a:pt x="3879825" y="0"/>
                </a:lnTo>
                <a:lnTo>
                  <a:pt x="3879825" y="2938967"/>
                </a:lnTo>
                <a:lnTo>
                  <a:pt x="0" y="29389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7432A3-27D2-7831-6BD3-B760D3A24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E354EE0-B21B-36B1-3D66-C228FB3DB948}"/>
              </a:ext>
            </a:extLst>
          </p:cNvPr>
          <p:cNvSpPr/>
          <p:nvPr/>
        </p:nvSpPr>
        <p:spPr>
          <a:xfrm>
            <a:off x="-1210989" y="-1006031"/>
            <a:ext cx="19689775" cy="3171095"/>
          </a:xfrm>
          <a:custGeom>
            <a:avLst/>
            <a:gdLst/>
            <a:ahLst/>
            <a:cxnLst/>
            <a:rect l="l" t="t" r="r" b="b"/>
            <a:pathLst>
              <a:path w="19689775" h="4907291">
                <a:moveTo>
                  <a:pt x="0" y="0"/>
                </a:moveTo>
                <a:lnTo>
                  <a:pt x="19689775" y="0"/>
                </a:lnTo>
                <a:lnTo>
                  <a:pt x="19689775" y="4907291"/>
                </a:lnTo>
                <a:lnTo>
                  <a:pt x="0" y="49072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120177"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FAFAD52C-F159-EA98-5934-96A62B3E8088}"/>
              </a:ext>
            </a:extLst>
          </p:cNvPr>
          <p:cNvSpPr/>
          <p:nvPr/>
        </p:nvSpPr>
        <p:spPr>
          <a:xfrm>
            <a:off x="-457200" y="-1227995"/>
            <a:ext cx="2928584" cy="2928584"/>
          </a:xfrm>
          <a:custGeom>
            <a:avLst/>
            <a:gdLst/>
            <a:ahLst/>
            <a:cxnLst/>
            <a:rect l="l" t="t" r="r" b="b"/>
            <a:pathLst>
              <a:path w="2928584" h="2928584">
                <a:moveTo>
                  <a:pt x="0" y="0"/>
                </a:moveTo>
                <a:lnTo>
                  <a:pt x="2928583" y="0"/>
                </a:lnTo>
                <a:lnTo>
                  <a:pt x="2928583" y="2928583"/>
                </a:lnTo>
                <a:lnTo>
                  <a:pt x="0" y="29285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500808E6-5E47-EC20-A4C2-E8CED08BE0C7}"/>
              </a:ext>
            </a:extLst>
          </p:cNvPr>
          <p:cNvSpPr/>
          <p:nvPr/>
        </p:nvSpPr>
        <p:spPr>
          <a:xfrm flipH="1">
            <a:off x="15550204" y="-1227995"/>
            <a:ext cx="2928584" cy="2928584"/>
          </a:xfrm>
          <a:custGeom>
            <a:avLst/>
            <a:gdLst/>
            <a:ahLst/>
            <a:cxnLst/>
            <a:rect l="l" t="t" r="r" b="b"/>
            <a:pathLst>
              <a:path w="2928584" h="2928584">
                <a:moveTo>
                  <a:pt x="2928583" y="0"/>
                </a:moveTo>
                <a:lnTo>
                  <a:pt x="0" y="0"/>
                </a:lnTo>
                <a:lnTo>
                  <a:pt x="0" y="2928583"/>
                </a:lnTo>
                <a:lnTo>
                  <a:pt x="2928583" y="2928583"/>
                </a:lnTo>
                <a:lnTo>
                  <a:pt x="292858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562E6987-3B4E-9A65-6BB6-65114A2BF8E3}"/>
              </a:ext>
            </a:extLst>
          </p:cNvPr>
          <p:cNvSpPr txBox="1"/>
          <p:nvPr/>
        </p:nvSpPr>
        <p:spPr>
          <a:xfrm>
            <a:off x="1422163" y="668577"/>
            <a:ext cx="14423469" cy="859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25"/>
              </a:lnSpc>
            </a:pPr>
            <a:r>
              <a:rPr lang="en-US" sz="58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State Machine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FA1770-9CC5-A82D-2DA8-759963B33951}"/>
              </a:ext>
            </a:extLst>
          </p:cNvPr>
          <p:cNvSpPr txBox="1"/>
          <p:nvPr/>
        </p:nvSpPr>
        <p:spPr>
          <a:xfrm>
            <a:off x="2471384" y="7224740"/>
            <a:ext cx="9845040" cy="1660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6725"/>
              </a:lnSpc>
            </a:pP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Pada State Machine </a:t>
            </a:r>
            <a:r>
              <a:rPr lang="en-US" b="1" dirty="0" err="1">
                <a:latin typeface="Poppins Bold"/>
                <a:ea typeface="Poppins Bold"/>
                <a:cs typeface="Poppins Bold"/>
                <a:sym typeface="Poppins Bold"/>
              </a:rPr>
              <a:t>diatas</a:t>
            </a: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1" dirty="0" err="1">
                <a:latin typeface="Poppins Bold"/>
                <a:ea typeface="Poppins Bold"/>
                <a:cs typeface="Poppins Bold"/>
                <a:sym typeface="Poppins Bold"/>
              </a:rPr>
              <a:t>dibuat</a:t>
            </a: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1" dirty="0" err="1">
                <a:latin typeface="Poppins Bold"/>
                <a:ea typeface="Poppins Bold"/>
                <a:cs typeface="Poppins Bold"/>
                <a:sym typeface="Poppins Bold"/>
              </a:rPr>
              <a:t>untuk</a:t>
            </a: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1" dirty="0" err="1">
                <a:latin typeface="Poppins Bold"/>
                <a:ea typeface="Poppins Bold"/>
                <a:cs typeface="Poppins Bold"/>
                <a:sym typeface="Poppins Bold"/>
              </a:rPr>
              <a:t>mengatur</a:t>
            </a: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 status </a:t>
            </a:r>
            <a:r>
              <a:rPr lang="en-US" b="1" dirty="0" err="1">
                <a:latin typeface="Poppins Bold"/>
                <a:ea typeface="Poppins Bold"/>
                <a:cs typeface="Poppins Bold"/>
                <a:sym typeface="Poppins Bold"/>
              </a:rPr>
              <a:t>kamar</a:t>
            </a: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 agar </a:t>
            </a:r>
            <a:r>
              <a:rPr lang="en-US" b="1" dirty="0" err="1">
                <a:latin typeface="Poppins Bold"/>
                <a:ea typeface="Poppins Bold"/>
                <a:cs typeface="Poppins Bold"/>
                <a:sym typeface="Poppins Bold"/>
              </a:rPr>
              <a:t>sesuai</a:t>
            </a: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1" dirty="0" err="1">
                <a:latin typeface="Poppins Bold"/>
                <a:ea typeface="Poppins Bold"/>
                <a:cs typeface="Poppins Bold"/>
                <a:sym typeface="Poppins Bold"/>
              </a:rPr>
              <a:t>alur</a:t>
            </a: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1" dirty="0" err="1">
                <a:latin typeface="Poppins Bold"/>
                <a:ea typeface="Poppins Bold"/>
                <a:cs typeface="Poppins Bold"/>
                <a:sym typeface="Poppins Bold"/>
              </a:rPr>
              <a:t>bisnis</a:t>
            </a: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 hotel.</a:t>
            </a:r>
            <a:endParaRPr lang="en-US" sz="1800" b="1" dirty="0"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C3625B-B45A-255B-6130-7CD7AC59682A}"/>
              </a:ext>
            </a:extLst>
          </p:cNvPr>
          <p:cNvSpPr txBox="1"/>
          <p:nvPr/>
        </p:nvSpPr>
        <p:spPr>
          <a:xfrm>
            <a:off x="2819400" y="1892534"/>
            <a:ext cx="12875296" cy="50974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6725"/>
              </a:lnSpc>
            </a:pP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TERSEDIA 	</a:t>
            </a:r>
          </a:p>
          <a:p>
            <a:pPr>
              <a:lnSpc>
                <a:spcPts val="6725"/>
              </a:lnSpc>
            </a:pP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 BOOKING</a:t>
            </a:r>
          </a:p>
          <a:p>
            <a:pPr>
              <a:lnSpc>
                <a:spcPts val="6725"/>
              </a:lnSpc>
            </a:pP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 DI BOOKING (CHECK IN)</a:t>
            </a:r>
          </a:p>
          <a:p>
            <a:pPr>
              <a:lnSpc>
                <a:spcPts val="6725"/>
              </a:lnSpc>
            </a:pP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 DI TEMPATI ( CHECK OUT) </a:t>
            </a:r>
          </a:p>
          <a:p>
            <a:pPr>
              <a:lnSpc>
                <a:spcPts val="6725"/>
              </a:lnSpc>
            </a:pPr>
            <a:r>
              <a:rPr lang="en-US" sz="1800" b="1" dirty="0">
                <a:latin typeface="Poppins Bold"/>
                <a:ea typeface="Poppins Bold"/>
                <a:cs typeface="Poppins Bold"/>
                <a:sym typeface="Poppins Bold"/>
              </a:rPr>
              <a:t>CHECK OUT </a:t>
            </a:r>
          </a:p>
          <a:p>
            <a:pPr>
              <a:lnSpc>
                <a:spcPts val="6725"/>
              </a:lnSpc>
            </a:pPr>
            <a:r>
              <a:rPr lang="en-US" sz="1800" b="1" dirty="0">
                <a:latin typeface="Poppins Bold"/>
                <a:ea typeface="Poppins Bold"/>
                <a:cs typeface="Poppins Bold"/>
                <a:sym typeface="Poppins Bold"/>
              </a:rPr>
              <a:t>TERSEDIA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C6191FB-2FDA-0250-BED7-25D26DB4274C}"/>
              </a:ext>
            </a:extLst>
          </p:cNvPr>
          <p:cNvCxnSpPr>
            <a:cxnSpLocks/>
          </p:cNvCxnSpPr>
          <p:nvPr/>
        </p:nvCxnSpPr>
        <p:spPr>
          <a:xfrm>
            <a:off x="3480429" y="2701746"/>
            <a:ext cx="0" cy="4964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EDEC7EC-491C-3BE3-55F6-D09023BD4595}"/>
              </a:ext>
            </a:extLst>
          </p:cNvPr>
          <p:cNvCxnSpPr>
            <a:cxnSpLocks/>
          </p:cNvCxnSpPr>
          <p:nvPr/>
        </p:nvCxnSpPr>
        <p:spPr>
          <a:xfrm>
            <a:off x="3556629" y="3515226"/>
            <a:ext cx="0" cy="4964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EEF0FA1-6B67-590C-0C57-1AF54C8C1B47}"/>
              </a:ext>
            </a:extLst>
          </p:cNvPr>
          <p:cNvCxnSpPr>
            <a:cxnSpLocks/>
          </p:cNvCxnSpPr>
          <p:nvPr/>
        </p:nvCxnSpPr>
        <p:spPr>
          <a:xfrm>
            <a:off x="3556629" y="5272939"/>
            <a:ext cx="0" cy="4964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F6F1A1EF-745E-8E3B-035C-7F2474A1A360}"/>
              </a:ext>
            </a:extLst>
          </p:cNvPr>
          <p:cNvSpPr/>
          <p:nvPr/>
        </p:nvSpPr>
        <p:spPr>
          <a:xfrm>
            <a:off x="6476999" y="2177885"/>
            <a:ext cx="10972799" cy="46539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def __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init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__(</a:t>
            </a:r>
          </a:p>
          <a:p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   self,</a:t>
            </a:r>
          </a:p>
          <a:p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  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nomor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,</a:t>
            </a:r>
          </a:p>
          <a:p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  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tipe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,</a:t>
            </a:r>
          </a:p>
          <a:p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  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harga</a:t>
            </a:r>
            <a:endParaRPr lang="en-US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):</a:t>
            </a:r>
          </a:p>
          <a:p>
            <a:endParaRPr lang="en-US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   self.__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nomor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=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nomor</a:t>
            </a:r>
            <a:endParaRPr lang="en-US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   self.__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tipe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=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tipe</a:t>
            </a:r>
            <a:endParaRPr lang="en-US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   self.__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harga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=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harga</a:t>
            </a:r>
            <a:endParaRPr lang="en-US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  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self.__status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=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StatusKamar.TERSEDIA</a:t>
            </a:r>
            <a:endParaRPr lang="en-US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305B873B-C035-DA7B-5CC5-D4D5C77DB22D}"/>
              </a:ext>
            </a:extLst>
          </p:cNvPr>
          <p:cNvCxnSpPr>
            <a:cxnSpLocks/>
          </p:cNvCxnSpPr>
          <p:nvPr/>
        </p:nvCxnSpPr>
        <p:spPr>
          <a:xfrm>
            <a:off x="3556629" y="6134100"/>
            <a:ext cx="0" cy="4964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43767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5D1419-A4C2-4437-223A-0A5CE3CF4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DE4C8CF-AE54-7BE5-59FD-03EF10223A82}"/>
              </a:ext>
            </a:extLst>
          </p:cNvPr>
          <p:cNvSpPr/>
          <p:nvPr/>
        </p:nvSpPr>
        <p:spPr>
          <a:xfrm>
            <a:off x="-1210987" y="-1227995"/>
            <a:ext cx="19689775" cy="3171095"/>
          </a:xfrm>
          <a:custGeom>
            <a:avLst/>
            <a:gdLst/>
            <a:ahLst/>
            <a:cxnLst/>
            <a:rect l="l" t="t" r="r" b="b"/>
            <a:pathLst>
              <a:path w="19689775" h="4907291">
                <a:moveTo>
                  <a:pt x="0" y="0"/>
                </a:moveTo>
                <a:lnTo>
                  <a:pt x="19689775" y="0"/>
                </a:lnTo>
                <a:lnTo>
                  <a:pt x="19689775" y="4907291"/>
                </a:lnTo>
                <a:lnTo>
                  <a:pt x="0" y="49072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120177"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5882ADDB-5CD9-A5B8-25D7-C39EB18E3FF6}"/>
              </a:ext>
            </a:extLst>
          </p:cNvPr>
          <p:cNvSpPr/>
          <p:nvPr/>
        </p:nvSpPr>
        <p:spPr>
          <a:xfrm>
            <a:off x="-457200" y="-1227995"/>
            <a:ext cx="2928584" cy="2928584"/>
          </a:xfrm>
          <a:custGeom>
            <a:avLst/>
            <a:gdLst/>
            <a:ahLst/>
            <a:cxnLst/>
            <a:rect l="l" t="t" r="r" b="b"/>
            <a:pathLst>
              <a:path w="2928584" h="2928584">
                <a:moveTo>
                  <a:pt x="0" y="0"/>
                </a:moveTo>
                <a:lnTo>
                  <a:pt x="2928583" y="0"/>
                </a:lnTo>
                <a:lnTo>
                  <a:pt x="2928583" y="2928583"/>
                </a:lnTo>
                <a:lnTo>
                  <a:pt x="0" y="29285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7DCCF6C0-9B77-01C8-8971-2EF76ADBC102}"/>
              </a:ext>
            </a:extLst>
          </p:cNvPr>
          <p:cNvSpPr/>
          <p:nvPr/>
        </p:nvSpPr>
        <p:spPr>
          <a:xfrm flipH="1">
            <a:off x="15550204" y="-1227995"/>
            <a:ext cx="2928584" cy="2928584"/>
          </a:xfrm>
          <a:custGeom>
            <a:avLst/>
            <a:gdLst/>
            <a:ahLst/>
            <a:cxnLst/>
            <a:rect l="l" t="t" r="r" b="b"/>
            <a:pathLst>
              <a:path w="2928584" h="2928584">
                <a:moveTo>
                  <a:pt x="2928583" y="0"/>
                </a:moveTo>
                <a:lnTo>
                  <a:pt x="0" y="0"/>
                </a:lnTo>
                <a:lnTo>
                  <a:pt x="0" y="2928583"/>
                </a:lnTo>
                <a:lnTo>
                  <a:pt x="2928583" y="2928583"/>
                </a:lnTo>
                <a:lnTo>
                  <a:pt x="292858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889FD5C1-321E-6078-7F08-DD0017A17C7B}"/>
              </a:ext>
            </a:extLst>
          </p:cNvPr>
          <p:cNvSpPr txBox="1"/>
          <p:nvPr/>
        </p:nvSpPr>
        <p:spPr>
          <a:xfrm>
            <a:off x="1422165" y="298321"/>
            <a:ext cx="14423469" cy="859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25"/>
              </a:lnSpc>
            </a:pPr>
            <a:r>
              <a:rPr lang="en-US" sz="58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Operator Overloading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E8FDBDE-4B7B-B73E-7496-09B1B4D6E792}"/>
              </a:ext>
            </a:extLst>
          </p:cNvPr>
          <p:cNvSpPr/>
          <p:nvPr/>
        </p:nvSpPr>
        <p:spPr>
          <a:xfrm>
            <a:off x="1007092" y="2089957"/>
            <a:ext cx="4343400" cy="15359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b-NO" b="1" dirty="0">
                <a:latin typeface="Poppins" panose="00000500000000000000" pitchFamily="2" charset="0"/>
                <a:cs typeface="Poppins" panose="00000500000000000000" pitchFamily="2" charset="0"/>
              </a:rPr>
              <a:t>__str__()</a:t>
            </a:r>
          </a:p>
          <a:p>
            <a:r>
              <a:rPr lang="nb-NO" b="1" dirty="0">
                <a:latin typeface="Poppins" panose="00000500000000000000" pitchFamily="2" charset="0"/>
                <a:cs typeface="Poppins" panose="00000500000000000000" pitchFamily="2" charset="0"/>
              </a:rPr>
              <a:t>__eq__()</a:t>
            </a:r>
          </a:p>
          <a:p>
            <a:r>
              <a:rPr lang="nb-NO" b="1" dirty="0">
                <a:latin typeface="Poppins" panose="00000500000000000000" pitchFamily="2" charset="0"/>
                <a:cs typeface="Poppins" panose="00000500000000000000" pitchFamily="2" charset="0"/>
              </a:rPr>
              <a:t>__lt__()</a:t>
            </a:r>
          </a:p>
          <a:p>
            <a:r>
              <a:rPr lang="nb-NO" b="1" dirty="0">
                <a:latin typeface="Poppins" panose="00000500000000000000" pitchFamily="2" charset="0"/>
                <a:cs typeface="Poppins" panose="00000500000000000000" pitchFamily="2" charset="0"/>
              </a:rPr>
              <a:t>__gt__()</a:t>
            </a:r>
          </a:p>
          <a:p>
            <a:r>
              <a:rPr lang="nb-NO" b="1" dirty="0">
                <a:latin typeface="Poppins" panose="00000500000000000000" pitchFamily="2" charset="0"/>
                <a:cs typeface="Poppins" panose="00000500000000000000" pitchFamily="2" charset="0"/>
              </a:rPr>
              <a:t>__len__()</a:t>
            </a:r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84D5DE5-C800-6580-3587-C2B7FC6274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7456636"/>
              </p:ext>
            </p:extLst>
          </p:nvPr>
        </p:nvGraphicFramePr>
        <p:xfrm>
          <a:off x="533400" y="5829300"/>
          <a:ext cx="8229600" cy="274320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383402878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10544428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Operator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Kegunaan</a:t>
                      </a:r>
                      <a:endParaRPr lang="en-US" sz="2000" b="1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28664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__str__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Menampilkan</a:t>
                      </a:r>
                      <a:r>
                        <a:rPr lang="en-US" sz="200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nama </a:t>
                      </a:r>
                      <a:r>
                        <a:rPr lang="en-US" sz="2000" b="1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kamar</a:t>
                      </a:r>
                      <a:endParaRPr lang="en-US" sz="2000" b="1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33261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__eq__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Membandingkan</a:t>
                      </a:r>
                      <a:r>
                        <a:rPr lang="en-US" sz="200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US" sz="2000" b="1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kamar</a:t>
                      </a:r>
                      <a:endParaRPr lang="en-US" sz="2000" b="1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99079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__lt__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Kamar </a:t>
                      </a:r>
                      <a:r>
                        <a:rPr lang="en-US" sz="2000" b="1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lebih</a:t>
                      </a:r>
                      <a:r>
                        <a:rPr lang="en-US" sz="200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US" sz="2000" b="1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kecil</a:t>
                      </a:r>
                      <a:endParaRPr lang="en-US" sz="2000" b="1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0476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__</a:t>
                      </a:r>
                      <a:r>
                        <a:rPr lang="en-US" sz="2400" b="1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gt</a:t>
                      </a:r>
                      <a:r>
                        <a:rPr lang="en-US" sz="240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__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Kamar </a:t>
                      </a:r>
                      <a:r>
                        <a:rPr lang="en-US" sz="2000" b="1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lebih</a:t>
                      </a:r>
                      <a:r>
                        <a:rPr lang="en-US" sz="200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US" sz="2000" b="1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besar</a:t>
                      </a:r>
                      <a:endParaRPr lang="en-US" sz="2000" b="1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86492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__</a:t>
                      </a:r>
                      <a:r>
                        <a:rPr lang="en-US" sz="2400" b="1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len</a:t>
                      </a:r>
                      <a:r>
                        <a:rPr lang="en-US" sz="240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__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Panjang </a:t>
                      </a:r>
                      <a:r>
                        <a:rPr lang="en-US" sz="2000" b="1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nomor</a:t>
                      </a:r>
                      <a:r>
                        <a:rPr lang="en-US" sz="200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US" sz="2000" b="1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kamar</a:t>
                      </a:r>
                      <a:endParaRPr lang="en-US" sz="2000" b="1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33390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4D185E9-FC04-0663-3307-704F250F3E1E}"/>
              </a:ext>
            </a:extLst>
          </p:cNvPr>
          <p:cNvSpPr txBox="1"/>
          <p:nvPr/>
        </p:nvSpPr>
        <p:spPr>
          <a:xfrm>
            <a:off x="838200" y="4061993"/>
            <a:ext cx="5715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Kode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diatas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adalah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operator yang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digunakan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 pada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kelas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kamar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DD1B2A-FEFC-DE95-7799-AD46B6688CF5}"/>
              </a:ext>
            </a:extLst>
          </p:cNvPr>
          <p:cNvSpPr txBox="1"/>
          <p:nvPr/>
        </p:nvSpPr>
        <p:spPr>
          <a:xfrm>
            <a:off x="11201400" y="3637438"/>
            <a:ext cx="5486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Poppins" panose="00000500000000000000" pitchFamily="2" charset="0"/>
                <a:cs typeface="Poppins" panose="00000500000000000000" pitchFamily="2" charset="0"/>
              </a:rPr>
              <a:t>Strategy Pattern</a:t>
            </a:r>
            <a:endParaRPr lang="en-US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6E0073-A4FB-8E68-DE79-FC9B83DBF632}"/>
              </a:ext>
            </a:extLst>
          </p:cNvPr>
          <p:cNvSpPr txBox="1"/>
          <p:nvPr/>
        </p:nvSpPr>
        <p:spPr>
          <a:xfrm>
            <a:off x="11934904" y="4965978"/>
            <a:ext cx="203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Report Strategy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8B5D677-B00E-9357-6178-998B82E4E2C4}"/>
              </a:ext>
            </a:extLst>
          </p:cNvPr>
          <p:cNvCxnSpPr>
            <a:cxnSpLocks/>
          </p:cNvCxnSpPr>
          <p:nvPr/>
        </p:nvCxnSpPr>
        <p:spPr>
          <a:xfrm>
            <a:off x="12954000" y="5372100"/>
            <a:ext cx="0" cy="21600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02DB5FA-4E8A-3847-5B90-BB4777BD9A91}"/>
              </a:ext>
            </a:extLst>
          </p:cNvPr>
          <p:cNvCxnSpPr>
            <a:cxnSpLocks/>
          </p:cNvCxnSpPr>
          <p:nvPr/>
        </p:nvCxnSpPr>
        <p:spPr>
          <a:xfrm>
            <a:off x="12954000" y="6438900"/>
            <a:ext cx="381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368CFF9-ECDE-22FA-AFA8-E3A4320EEA3D}"/>
              </a:ext>
            </a:extLst>
          </p:cNvPr>
          <p:cNvCxnSpPr>
            <a:cxnSpLocks/>
          </p:cNvCxnSpPr>
          <p:nvPr/>
        </p:nvCxnSpPr>
        <p:spPr>
          <a:xfrm>
            <a:off x="12954000" y="7532132"/>
            <a:ext cx="381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9F77C40-FE6F-725E-563D-65B315BDCACC}"/>
              </a:ext>
            </a:extLst>
          </p:cNvPr>
          <p:cNvSpPr txBox="1"/>
          <p:nvPr/>
        </p:nvSpPr>
        <p:spPr>
          <a:xfrm>
            <a:off x="13335000" y="5533251"/>
            <a:ext cx="16571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TXTReport</a:t>
            </a:r>
            <a:endParaRPr lang="en-US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8583C7E-934A-DEC0-6DCA-2300E7BDECAD}"/>
              </a:ext>
            </a:extLst>
          </p:cNvPr>
          <p:cNvSpPr txBox="1"/>
          <p:nvPr/>
        </p:nvSpPr>
        <p:spPr>
          <a:xfrm>
            <a:off x="13334999" y="6254710"/>
            <a:ext cx="16571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JSONReport</a:t>
            </a:r>
            <a:endParaRPr lang="en-US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8D65F9A-2030-1BB9-AD72-BC6C17A5A000}"/>
              </a:ext>
            </a:extLst>
          </p:cNvPr>
          <p:cNvSpPr txBox="1"/>
          <p:nvPr/>
        </p:nvSpPr>
        <p:spPr>
          <a:xfrm>
            <a:off x="13334999" y="7339369"/>
            <a:ext cx="16571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PDFReport</a:t>
            </a:r>
            <a:endParaRPr lang="en-US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13BC9F0-47F6-EBCA-C488-96C4C9C9B8DE}"/>
              </a:ext>
            </a:extLst>
          </p:cNvPr>
          <p:cNvCxnSpPr>
            <a:cxnSpLocks/>
          </p:cNvCxnSpPr>
          <p:nvPr/>
        </p:nvCxnSpPr>
        <p:spPr>
          <a:xfrm>
            <a:off x="12954000" y="5710297"/>
            <a:ext cx="381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3E753B1A-C5BD-B6D0-7771-BC364E1CE87F}"/>
              </a:ext>
            </a:extLst>
          </p:cNvPr>
          <p:cNvSpPr txBox="1"/>
          <p:nvPr/>
        </p:nvSpPr>
        <p:spPr>
          <a:xfrm>
            <a:off x="10477499" y="8117056"/>
            <a:ext cx="5715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Pada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StrategyPattern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format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laporan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dapat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diganti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tanpa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harus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mengubah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sistem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utama</a:t>
            </a:r>
            <a:endParaRPr lang="en-US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41075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FD8874-68D2-2C2D-A765-BE18EFBD4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8AD49A4-7F4F-0738-C202-B0FEB691A006}"/>
              </a:ext>
            </a:extLst>
          </p:cNvPr>
          <p:cNvSpPr/>
          <p:nvPr/>
        </p:nvSpPr>
        <p:spPr>
          <a:xfrm>
            <a:off x="-1210987" y="-1227995"/>
            <a:ext cx="19689775" cy="3171095"/>
          </a:xfrm>
          <a:custGeom>
            <a:avLst/>
            <a:gdLst/>
            <a:ahLst/>
            <a:cxnLst/>
            <a:rect l="l" t="t" r="r" b="b"/>
            <a:pathLst>
              <a:path w="19689775" h="4907291">
                <a:moveTo>
                  <a:pt x="0" y="0"/>
                </a:moveTo>
                <a:lnTo>
                  <a:pt x="19689775" y="0"/>
                </a:lnTo>
                <a:lnTo>
                  <a:pt x="19689775" y="4907291"/>
                </a:lnTo>
                <a:lnTo>
                  <a:pt x="0" y="49072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120177"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02FA0E83-5ACF-4A99-0884-EDE4954C8E6B}"/>
              </a:ext>
            </a:extLst>
          </p:cNvPr>
          <p:cNvSpPr/>
          <p:nvPr/>
        </p:nvSpPr>
        <p:spPr>
          <a:xfrm>
            <a:off x="-457200" y="-1227995"/>
            <a:ext cx="2928584" cy="2928584"/>
          </a:xfrm>
          <a:custGeom>
            <a:avLst/>
            <a:gdLst/>
            <a:ahLst/>
            <a:cxnLst/>
            <a:rect l="l" t="t" r="r" b="b"/>
            <a:pathLst>
              <a:path w="2928584" h="2928584">
                <a:moveTo>
                  <a:pt x="0" y="0"/>
                </a:moveTo>
                <a:lnTo>
                  <a:pt x="2928583" y="0"/>
                </a:lnTo>
                <a:lnTo>
                  <a:pt x="2928583" y="2928583"/>
                </a:lnTo>
                <a:lnTo>
                  <a:pt x="0" y="29285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F54ECB68-ACC5-A7A5-1CF6-A9E57591DAC2}"/>
              </a:ext>
            </a:extLst>
          </p:cNvPr>
          <p:cNvSpPr/>
          <p:nvPr/>
        </p:nvSpPr>
        <p:spPr>
          <a:xfrm flipH="1">
            <a:off x="15550204" y="-1227995"/>
            <a:ext cx="2928584" cy="2928584"/>
          </a:xfrm>
          <a:custGeom>
            <a:avLst/>
            <a:gdLst/>
            <a:ahLst/>
            <a:cxnLst/>
            <a:rect l="l" t="t" r="r" b="b"/>
            <a:pathLst>
              <a:path w="2928584" h="2928584">
                <a:moveTo>
                  <a:pt x="2928583" y="0"/>
                </a:moveTo>
                <a:lnTo>
                  <a:pt x="0" y="0"/>
                </a:lnTo>
                <a:lnTo>
                  <a:pt x="0" y="2928583"/>
                </a:lnTo>
                <a:lnTo>
                  <a:pt x="2928583" y="2928583"/>
                </a:lnTo>
                <a:lnTo>
                  <a:pt x="292858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9E227B58-A578-848A-4202-9C4C7CF0FC99}"/>
              </a:ext>
            </a:extLst>
          </p:cNvPr>
          <p:cNvSpPr txBox="1"/>
          <p:nvPr/>
        </p:nvSpPr>
        <p:spPr>
          <a:xfrm>
            <a:off x="1295400" y="515142"/>
            <a:ext cx="14423469" cy="859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25"/>
              </a:lnSpc>
            </a:pPr>
            <a:r>
              <a:rPr lang="en-US" sz="58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CRUD CODE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22C0201-0114-51F8-FDD8-20AC9346DA32}"/>
              </a:ext>
            </a:extLst>
          </p:cNvPr>
          <p:cNvSpPr/>
          <p:nvPr/>
        </p:nvSpPr>
        <p:spPr>
          <a:xfrm>
            <a:off x="1007092" y="2747868"/>
            <a:ext cx="4343400" cy="15359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b-NO" b="1" dirty="0">
                <a:latin typeface="Poppins" panose="00000500000000000000" pitchFamily="2" charset="0"/>
                <a:cs typeface="Poppins" panose="00000500000000000000" pitchFamily="2" charset="0"/>
              </a:rPr>
              <a:t>Create → tambah_kamar()</a:t>
            </a:r>
          </a:p>
          <a:p>
            <a:r>
              <a:rPr lang="nb-NO" b="1" dirty="0">
                <a:latin typeface="Poppins" panose="00000500000000000000" pitchFamily="2" charset="0"/>
                <a:cs typeface="Poppins" panose="00000500000000000000" pitchFamily="2" charset="0"/>
              </a:rPr>
              <a:t>Read   → cari_kamar(), lihat_kamar()</a:t>
            </a:r>
          </a:p>
          <a:p>
            <a:r>
              <a:rPr lang="nb-NO" b="1" dirty="0">
                <a:latin typeface="Poppins" panose="00000500000000000000" pitchFamily="2" charset="0"/>
                <a:cs typeface="Poppins" panose="00000500000000000000" pitchFamily="2" charset="0"/>
              </a:rPr>
              <a:t>Update → update_status_kamar()</a:t>
            </a:r>
          </a:p>
          <a:p>
            <a:r>
              <a:rPr lang="nb-NO" b="1" dirty="0">
                <a:latin typeface="Poppins" panose="00000500000000000000" pitchFamily="2" charset="0"/>
                <a:cs typeface="Poppins" panose="00000500000000000000" pitchFamily="2" charset="0"/>
              </a:rPr>
              <a:t>Delete → hapus_kamar()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B4E80C-620F-9442-1608-F12364784349}"/>
              </a:ext>
            </a:extLst>
          </p:cNvPr>
          <p:cNvSpPr txBox="1"/>
          <p:nvPr/>
        </p:nvSpPr>
        <p:spPr>
          <a:xfrm>
            <a:off x="7170188" y="4111433"/>
            <a:ext cx="8298412" cy="1715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CRUD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adalah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operasi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dasar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dalam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pengelolaan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data. Pada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sistem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reservasi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hotel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ini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, CRUD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diterapkan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untuk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mengelola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data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kamar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dan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tamu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sehingga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data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dapat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ditambahkan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dilihat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diperbarui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maupun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dihapus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sesuai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kebutuhan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pengguna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EDB936-6E2D-5343-6FC1-B0B2E007C55D}"/>
              </a:ext>
            </a:extLst>
          </p:cNvPr>
          <p:cNvSpPr/>
          <p:nvPr/>
        </p:nvSpPr>
        <p:spPr>
          <a:xfrm>
            <a:off x="1143000" y="6210300"/>
            <a:ext cx="4343400" cy="15359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b-NO" b="1" dirty="0">
                <a:latin typeface="Poppins" panose="00000500000000000000" pitchFamily="2" charset="0"/>
                <a:cs typeface="Poppins" panose="00000500000000000000" pitchFamily="2" charset="0"/>
              </a:rPr>
              <a:t>Create → tambah_tamu()</a:t>
            </a:r>
          </a:p>
          <a:p>
            <a:r>
              <a:rPr lang="nb-NO" b="1" dirty="0">
                <a:latin typeface="Poppins" panose="00000500000000000000" pitchFamily="2" charset="0"/>
                <a:cs typeface="Poppins" panose="00000500000000000000" pitchFamily="2" charset="0"/>
              </a:rPr>
              <a:t>Read   → cari_tamu(), lihat_tamu()</a:t>
            </a:r>
          </a:p>
          <a:p>
            <a:r>
              <a:rPr lang="nb-NO" b="1" dirty="0">
                <a:latin typeface="Poppins" panose="00000500000000000000" pitchFamily="2" charset="0"/>
                <a:cs typeface="Poppins" panose="00000500000000000000" pitchFamily="2" charset="0"/>
              </a:rPr>
              <a:t>Update → (belum ada)</a:t>
            </a:r>
          </a:p>
          <a:p>
            <a:r>
              <a:rPr lang="nb-NO" b="1" dirty="0">
                <a:latin typeface="Poppins" panose="00000500000000000000" pitchFamily="2" charset="0"/>
                <a:cs typeface="Poppins" panose="00000500000000000000" pitchFamily="2" charset="0"/>
              </a:rPr>
              <a:t>Delete → hapus_tamu()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44CE9A-7613-F1CD-E789-5C31814308E8}"/>
              </a:ext>
            </a:extLst>
          </p:cNvPr>
          <p:cNvSpPr txBox="1"/>
          <p:nvPr/>
        </p:nvSpPr>
        <p:spPr>
          <a:xfrm>
            <a:off x="2133600" y="2211303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CRUD Kamar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43E135-43B1-00B3-60A1-DEBE4CB1F953}"/>
              </a:ext>
            </a:extLst>
          </p:cNvPr>
          <p:cNvSpPr txBox="1"/>
          <p:nvPr/>
        </p:nvSpPr>
        <p:spPr>
          <a:xfrm>
            <a:off x="2034772" y="5634232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CRUD Tamu</a:t>
            </a:r>
          </a:p>
        </p:txBody>
      </p:sp>
    </p:spTree>
    <p:extLst>
      <p:ext uri="{BB962C8B-B14F-4D97-AF65-F5344CB8AC3E}">
        <p14:creationId xmlns:p14="http://schemas.microsoft.com/office/powerpoint/2010/main" val="28718522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D72CBD-A18E-40C1-55AB-5D18D5837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F44040C-0201-299F-AC1C-CE548285A1CA}"/>
              </a:ext>
            </a:extLst>
          </p:cNvPr>
          <p:cNvSpPr/>
          <p:nvPr/>
        </p:nvSpPr>
        <p:spPr>
          <a:xfrm>
            <a:off x="-1210987" y="-1227995"/>
            <a:ext cx="19689775" cy="3171095"/>
          </a:xfrm>
          <a:custGeom>
            <a:avLst/>
            <a:gdLst/>
            <a:ahLst/>
            <a:cxnLst/>
            <a:rect l="l" t="t" r="r" b="b"/>
            <a:pathLst>
              <a:path w="19689775" h="4907291">
                <a:moveTo>
                  <a:pt x="0" y="0"/>
                </a:moveTo>
                <a:lnTo>
                  <a:pt x="19689775" y="0"/>
                </a:lnTo>
                <a:lnTo>
                  <a:pt x="19689775" y="4907291"/>
                </a:lnTo>
                <a:lnTo>
                  <a:pt x="0" y="49072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120177"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D3081333-B7A4-79D9-CFD0-85118F494943}"/>
              </a:ext>
            </a:extLst>
          </p:cNvPr>
          <p:cNvSpPr/>
          <p:nvPr/>
        </p:nvSpPr>
        <p:spPr>
          <a:xfrm>
            <a:off x="-457200" y="-1227995"/>
            <a:ext cx="2928584" cy="2928584"/>
          </a:xfrm>
          <a:custGeom>
            <a:avLst/>
            <a:gdLst/>
            <a:ahLst/>
            <a:cxnLst/>
            <a:rect l="l" t="t" r="r" b="b"/>
            <a:pathLst>
              <a:path w="2928584" h="2928584">
                <a:moveTo>
                  <a:pt x="0" y="0"/>
                </a:moveTo>
                <a:lnTo>
                  <a:pt x="2928583" y="0"/>
                </a:lnTo>
                <a:lnTo>
                  <a:pt x="2928583" y="2928583"/>
                </a:lnTo>
                <a:lnTo>
                  <a:pt x="0" y="29285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1580BA1E-9299-330A-1244-420957914719}"/>
              </a:ext>
            </a:extLst>
          </p:cNvPr>
          <p:cNvSpPr/>
          <p:nvPr/>
        </p:nvSpPr>
        <p:spPr>
          <a:xfrm flipH="1">
            <a:off x="15550204" y="-1227995"/>
            <a:ext cx="2928584" cy="2928584"/>
          </a:xfrm>
          <a:custGeom>
            <a:avLst/>
            <a:gdLst/>
            <a:ahLst/>
            <a:cxnLst/>
            <a:rect l="l" t="t" r="r" b="b"/>
            <a:pathLst>
              <a:path w="2928584" h="2928584">
                <a:moveTo>
                  <a:pt x="2928583" y="0"/>
                </a:moveTo>
                <a:lnTo>
                  <a:pt x="0" y="0"/>
                </a:lnTo>
                <a:lnTo>
                  <a:pt x="0" y="2928583"/>
                </a:lnTo>
                <a:lnTo>
                  <a:pt x="2928583" y="2928583"/>
                </a:lnTo>
                <a:lnTo>
                  <a:pt x="292858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E1BC2BD-AC7F-BFEC-3CBA-5F33F2B862A1}"/>
              </a:ext>
            </a:extLst>
          </p:cNvPr>
          <p:cNvSpPr txBox="1"/>
          <p:nvPr/>
        </p:nvSpPr>
        <p:spPr>
          <a:xfrm>
            <a:off x="1422165" y="357552"/>
            <a:ext cx="14423469" cy="859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25"/>
              </a:lnSpc>
            </a:pPr>
            <a:r>
              <a:rPr lang="en-US" sz="58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Proses </a:t>
            </a:r>
            <a:r>
              <a:rPr lang="en-US" sz="5899" b="1" dirty="0" err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Reservasi</a:t>
            </a:r>
            <a:endParaRPr lang="en-US" sz="5899" b="1" dirty="0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4F5AD6-F624-82A5-01C3-62D2E2BC6214}"/>
              </a:ext>
            </a:extLst>
          </p:cNvPr>
          <p:cNvSpPr txBox="1"/>
          <p:nvPr/>
        </p:nvSpPr>
        <p:spPr>
          <a:xfrm>
            <a:off x="6553200" y="3050900"/>
            <a:ext cx="8298412" cy="884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Pada proses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reservasi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ini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ini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adalah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seluruh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alur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utama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pada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penggunaan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sistem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hotel.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1162E13-F837-89AA-C613-BB87E01BE54D}"/>
              </a:ext>
            </a:extLst>
          </p:cNvPr>
          <p:cNvSpPr/>
          <p:nvPr/>
        </p:nvSpPr>
        <p:spPr>
          <a:xfrm>
            <a:off x="1524000" y="2247900"/>
            <a:ext cx="4191000" cy="5480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0EA581-53F4-2F18-9241-508C35FB744F}"/>
              </a:ext>
            </a:extLst>
          </p:cNvPr>
          <p:cNvSpPr txBox="1"/>
          <p:nvPr/>
        </p:nvSpPr>
        <p:spPr>
          <a:xfrm>
            <a:off x="1828800" y="2286000"/>
            <a:ext cx="4648200" cy="5454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Tambah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Tamu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     ↓</a:t>
            </a:r>
          </a:p>
          <a:p>
            <a:pPr>
              <a:lnSpc>
                <a:spcPct val="150000"/>
              </a:lnSpc>
            </a:pP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Pilih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Kamar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     ↓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Booking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     ↓</a:t>
            </a:r>
          </a:p>
          <a:p>
            <a:pPr>
              <a:lnSpc>
                <a:spcPct val="150000"/>
              </a:lnSpc>
            </a:pP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Pembayaran</a:t>
            </a:r>
            <a:endParaRPr lang="en-US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     ↓</a:t>
            </a:r>
          </a:p>
          <a:p>
            <a:pPr>
              <a:lnSpc>
                <a:spcPct val="150000"/>
              </a:lnSpc>
            </a:pP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Reservasi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dibuat</a:t>
            </a:r>
            <a:endParaRPr lang="en-US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     ↓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Check In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     ↓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Check Out</a:t>
            </a:r>
          </a:p>
        </p:txBody>
      </p:sp>
    </p:spTree>
    <p:extLst>
      <p:ext uri="{BB962C8B-B14F-4D97-AF65-F5344CB8AC3E}">
        <p14:creationId xmlns:p14="http://schemas.microsoft.com/office/powerpoint/2010/main" val="25191701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53A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51532" y="844235"/>
            <a:ext cx="2595499" cy="3199383"/>
          </a:xfrm>
          <a:custGeom>
            <a:avLst/>
            <a:gdLst/>
            <a:ahLst/>
            <a:cxnLst/>
            <a:rect l="l" t="t" r="r" b="b"/>
            <a:pathLst>
              <a:path w="2595499" h="3199383">
                <a:moveTo>
                  <a:pt x="0" y="0"/>
                </a:moveTo>
                <a:lnTo>
                  <a:pt x="2595500" y="0"/>
                </a:lnTo>
                <a:lnTo>
                  <a:pt x="2595500" y="3199383"/>
                </a:lnTo>
                <a:lnTo>
                  <a:pt x="0" y="31993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4663801" y="632549"/>
            <a:ext cx="2595499" cy="3199383"/>
          </a:xfrm>
          <a:custGeom>
            <a:avLst/>
            <a:gdLst/>
            <a:ahLst/>
            <a:cxnLst/>
            <a:rect l="l" t="t" r="r" b="b"/>
            <a:pathLst>
              <a:path w="2595499" h="3199383">
                <a:moveTo>
                  <a:pt x="2595499" y="0"/>
                </a:moveTo>
                <a:lnTo>
                  <a:pt x="0" y="0"/>
                </a:lnTo>
                <a:lnTo>
                  <a:pt x="0" y="3199383"/>
                </a:lnTo>
                <a:lnTo>
                  <a:pt x="2595499" y="3199383"/>
                </a:lnTo>
                <a:lnTo>
                  <a:pt x="2595499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948806" y="137880"/>
            <a:ext cx="12284666" cy="8322861"/>
          </a:xfrm>
          <a:custGeom>
            <a:avLst/>
            <a:gdLst/>
            <a:ahLst/>
            <a:cxnLst/>
            <a:rect l="l" t="t" r="r" b="b"/>
            <a:pathLst>
              <a:path w="12284666" h="8322861">
                <a:moveTo>
                  <a:pt x="0" y="0"/>
                </a:moveTo>
                <a:lnTo>
                  <a:pt x="12284666" y="0"/>
                </a:lnTo>
                <a:lnTo>
                  <a:pt x="12284666" y="8322861"/>
                </a:lnTo>
                <a:lnTo>
                  <a:pt x="0" y="83228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345387">
            <a:off x="832733" y="6333888"/>
            <a:ext cx="3999980" cy="3274984"/>
          </a:xfrm>
          <a:custGeom>
            <a:avLst/>
            <a:gdLst/>
            <a:ahLst/>
            <a:cxnLst/>
            <a:rect l="l" t="t" r="r" b="b"/>
            <a:pathLst>
              <a:path w="3999980" h="3274984">
                <a:moveTo>
                  <a:pt x="0" y="0"/>
                </a:moveTo>
                <a:lnTo>
                  <a:pt x="3999980" y="0"/>
                </a:lnTo>
                <a:lnTo>
                  <a:pt x="3999980" y="3274983"/>
                </a:lnTo>
                <a:lnTo>
                  <a:pt x="0" y="32749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1177000">
            <a:off x="14073679" y="6613525"/>
            <a:ext cx="2692664" cy="2692664"/>
          </a:xfrm>
          <a:custGeom>
            <a:avLst/>
            <a:gdLst/>
            <a:ahLst/>
            <a:cxnLst/>
            <a:rect l="l" t="t" r="r" b="b"/>
            <a:pathLst>
              <a:path w="2692664" h="2692664">
                <a:moveTo>
                  <a:pt x="0" y="0"/>
                </a:moveTo>
                <a:lnTo>
                  <a:pt x="2692664" y="0"/>
                </a:lnTo>
                <a:lnTo>
                  <a:pt x="2692664" y="2692664"/>
                </a:lnTo>
                <a:lnTo>
                  <a:pt x="0" y="26926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TextBox 7"/>
          <p:cNvSpPr txBox="1"/>
          <p:nvPr/>
        </p:nvSpPr>
        <p:spPr>
          <a:xfrm>
            <a:off x="4175133" y="2222797"/>
            <a:ext cx="9832011" cy="3711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10"/>
              </a:lnSpc>
            </a:pPr>
            <a:r>
              <a:rPr lang="en-US" sz="12622" b="1">
                <a:solidFill>
                  <a:srgbClr val="3853A2"/>
                </a:solidFill>
                <a:latin typeface="Poppins Bold"/>
                <a:ea typeface="Poppins Bold"/>
                <a:cs typeface="Poppins Bold"/>
                <a:sym typeface="Poppins Bold"/>
              </a:rPr>
              <a:t>TERIMA KASIH..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508</Words>
  <Application>Microsoft Office PowerPoint</Application>
  <PresentationFormat>Custom</PresentationFormat>
  <Paragraphs>123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Poppins</vt:lpstr>
      <vt:lpstr>Calibri</vt:lpstr>
      <vt:lpstr>Poppins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Belajar Sistem Komputer Presentasi Ilustrasi</dc:title>
  <dc:creator>RAFAL</dc:creator>
  <cp:lastModifiedBy>Lenovo LOQ</cp:lastModifiedBy>
  <cp:revision>3</cp:revision>
  <dcterms:created xsi:type="dcterms:W3CDTF">2006-08-16T00:00:00Z</dcterms:created>
  <dcterms:modified xsi:type="dcterms:W3CDTF">2026-06-16T06:52:25Z</dcterms:modified>
  <dc:identifier>DAHMhcZMK6c</dc:identifier>
</cp:coreProperties>
</file>